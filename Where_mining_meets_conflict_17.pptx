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130B21-6BA1-4AF0-A839-E2DA7224B065}">
  <a:tblStyle styleId="{37130B21-6BA1-4AF0-A839-E2DA7224B06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E7E7"/>
          </a:solidFill>
        </a:fill>
      </a:tcStyle>
    </a:wholeTbl>
    <a:band1H>
      <a:tcTxStyle b="off" i="off"/>
      <a:tcStyle>
        <a:fill>
          <a:solidFill>
            <a:srgbClr val="E6CCCB"/>
          </a:solidFill>
        </a:fill>
      </a:tcStyle>
    </a:band1H>
    <a:band2H>
      <a:tcTxStyle b="off" i="off"/>
    </a:band2H>
    <a:band1V>
      <a:tcTxStyle b="off" i="off"/>
      <a:tcStyle>
        <a:fill>
          <a:solidFill>
            <a:srgbClr val="E6CCC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(~27s): Good morning everyone. We are Diego and Lena from Team Tokio. Our project is about critical minerals in Latin America. Our hypothesis fits in four steps, shown here: demand for critical minerals and gold is rising. That demand pushes mining to expand in Latin America. Where mines go, conflicts follow. And the most extreme form of those conflicts is the killing of environmental defenders.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Our hypothesis in four steps: rising demand for critical minerals and gold (lithium demand x4 by 2040, IEA) expands mining in Latin America (709 mining sites, ICMM). Where mines go, conflicts follow (284 recorded mining conflicts, OCMAL), and the most extreme form of conflict is the killing of environmental defenders (200 mining-linked killings 2012–2025, Global Witness).</a:t>
            </a:r>
            <a:endParaRPr/>
          </a:p>
        </p:txBody>
      </p:sp>
      <p:sp>
        <p:nvSpPr>
          <p:cNvPr id="17" name="Google Shape;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(~15s): We will tell this story in four parts: first why these minerals matter, then who produces them and where the mines are, then the conflicts, with a deep dive on defenders, and finally our conclusions.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Four parts. We start with one protest, zoom out to global demand for critical minerals, then look at production and mining sites, then at mining conflicts and a deep dive on killed defenders, and finish with conclusions.</a:t>
            </a:r>
            <a:endParaRPr/>
          </a:p>
        </p:txBody>
      </p:sp>
      <p:sp>
        <p:nvSpPr>
          <p:cNvPr id="42" name="Google Shape;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(~2s): Let's start with the introduction.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Part 01: Intro. Why critical minerals, and why Latin America.</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57e21ad29518fd5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h57e21ad29518fd5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Diego opens with the Argentine protest sample. Candidate from our own sources: Jujuy, June 2023 — protests against a provincial constitutional reform passed without Indigenous consent, in lithium areas; Amnesty International documented police repression. Check and replace the bracketed text.</a:t>
            </a:r>
            <a:endParaRPr/>
          </a:p>
        </p:txBody>
      </p:sp>
      <p:sp>
        <p:nvSpPr>
          <p:cNvPr id="83" name="Google Shape;83;h57e21ad29518fd5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(~25s): Why critical minerals? Because of the energy transition. Electric cars, batteries, solar panels and power grids all need minerals. According to the IEA, clean-energy demand for lithium will be about four times higher in 2040 than today. Nickel almost four times, rare earths double, copper plus sixty percent. This is the pressure that pushes mining into new areas.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Why this topic: the energy transition. The IEA projects that clean-energy demand for lithium grows about four times between 2025 and 2040 in its Stated Policies scenario, nickel almost four times, rare earths twice, copper by about 60 %. In the High Demand scenario the growth is stronger (lithium 1,131 kt in 2040). This demand pushes mining into new areas.</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(~24s): And Latin America is right at the centre of it. Each bar is one hundred percent of world mining for one mineral. The red part is Latin America: about a third of the world's copper, almost a quarter of its lithium, and around ten percent of its gold. For graphite, nickel and cobalt, Asia and Africa dominate.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share of world mining production in 2025. Latin America (Chile, Peru, Argentina, Brazil, plus Mexico for gold) produces about 35 % of the world's copper and 23 % of its lithium. Africa (mostly DR Congo) dominates cobalt; Australia (Oceania) leads lithium; Asia (China, Indonesia) dominates graphite and nickel. Gold is spread out: Mexico, Peru and Brazil together mine about 10 %, while China, Russia and Australia lead. For the IEA minerals Mexico is not reported separately, so its copper and zinc sit in 'rest of the world'. Caveat: sources only name the top producers; everything else is one 'rest of the world' block.</a:t>
            </a:r>
            <a:endParaRPr/>
          </a:p>
        </p:txBody>
      </p:sp>
      <p:sp>
        <p:nvSpPr>
          <p:cNvPr id="108" name="Google Shape;1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(~4s): Part two: who produces, and where are the mines?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Part 02: Production &amp; sites. Who produces what, and where the mining sites are.</a:t>
            </a:r>
            <a:endParaRPr/>
          </a:p>
        </p:txBody>
      </p:sp>
      <p:sp>
        <p:nvSpPr>
          <p:cNvPr id="117" name="Google Shape;1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(~30s): Here are the mines on the map, from the ICMM global mining dataset. With each click we add one country. Chile: one hundred and two sites, along the copper belt in the north. Peru: one hundred and twenty-nine, along the Andes. Argentina: twenty-nine, gold in the south and lithium in the north-west. Brazil: one hundred and ninety-six, mostly iron ore and gold. Blue dots are critical minerals, yellow is gold.</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Our four countries together hold 456 of the 709 mining sites in the ICMM list. Each click adds one country. Chile: 102 sites, the copper belt of the Atacama (71 with copper as main mineral). Peru: 129 sites, silver, gold, copper and zinc in the Andean highlands. Argentina: 29 sites, gold in Patagonia and San Juan, lithium brines in the Puna (Jujuy, Salta, Catamarca). Brazil: 196 sites, mostly iron ore and steel in Minas Gerais, gold and tin in the Amazon. Blue = critical minerals, yellow = gold, grey = other.</a:t>
            </a:r>
            <a:endParaRPr/>
          </a:p>
        </p:txBody>
      </p:sp>
      <p:sp>
        <p:nvSpPr>
          <p:cNvPr id="134" name="Google Shape;13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(~35s): Four countries stand out, and they come back through the whole presentation: Chile, Peru, Argentina and Brazil. Chile alone mines almost a quarter of the world's copper, about five and a half million tonnes a year. Peru is second for copper. Chile and Argentina lead in lithium, and Mexico, Peru and Brazil are the main gold producers. The table shows the tonnes for 2025 and the IEA projection for 2040; gold has no projection because the IEA does not cover it.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Which countries produce and how much. Chile alone mines almost a quarter of the world's copper (5.5 Mt) and 17 % of its lithium. Peru is the second copper producer of the region. Argentina is the fast-growing lithium producer. Brazil appears for graphite and nickel. For gold, Mexico is the largest Latin American producer (140 t, 4.3 % of world output), ahead of Peru (110 t, 3.3 %) and Brazil (80 t, 2.4 %). Other Latin American countries are not reported separately by the IEA (shown as 0 in our cleaned file, which does not mean no production).</a:t>
            </a:r>
            <a:endParaRPr/>
          </a:p>
        </p:txBody>
      </p:sp>
      <p:sp>
        <p:nvSpPr>
          <p:cNvPr id="157" name="Google Shape;15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(~2s): Part three: the conflicts.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Part 03: Conflicts &amp; abuses. Mining conflicts, and a deep dive on killed environmental defenders.</a:t>
            </a:r>
            <a:endParaRPr/>
          </a:p>
        </p:txBody>
      </p:sp>
      <p:sp>
        <p:nvSpPr>
          <p:cNvPr id="168" name="Google Shape;16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(~20s): We scraped the Observatory of Mining Conflicts in Latin America, called OCMAL. It lists 284 mining conflicts. On the left, most of them are in South America. On the right, inside South America, our four countries lead: Chile, Peru, Argentina and Brazil. Mexico alone also has fifty-eight.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We scraped the OCMAL conflict list: 289 conflict-country rows. South America has 192, Mexico 58, Central America 35, the Caribbean 4. In South America, Chile (49), Peru (46), Argentina (28) and Brazil (26) account for 149 of 192 conflicts (78 %). Mexico alone has 58, the most of any single country.</a:t>
            </a:r>
            <a:endParaRPr/>
          </a:p>
        </p:txBody>
      </p:sp>
      <p:sp>
        <p:nvSpPr>
          <p:cNvPr id="185" name="Google Shape;18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(~22s): Now we put both on one map. First, the mining sites you already know. [Click.] Now the conflicts, placed in their province; the bigger the circle, the more conflicts. You can see that conflicts appear in the same places as the mines: northern Chile, the Peruvian Andes, northern Mexico and south-east Brazil.</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Same mining sites as in part 2, now for all of Latin America: 709 sites. Click: the conflict layer appears. Each conflict is placed in its province; circle size = number of conflicts. 221 of 283 placed conflicts (78 %) are in provinces that also host a mining site. Hotspots: the Chilean copper belt (Coquimbo, Atacama, Antofagasta), Cajamarca in Peru, Zacatecas and Sonora in Mexico, Pará and Minas Gerais in Brazil.</a:t>
            </a:r>
            <a:endParaRPr/>
          </a:p>
        </p:txBody>
      </p:sp>
      <p:sp>
        <p:nvSpPr>
          <p:cNvPr id="197" name="Google Shape;1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(~29s): Let's zoom on the Andes: Peru, Chile and Argentina. Again, mines first. [Click.] And the conflicts. The province with the most conflicts in all of Latin America is Coquimbo, in Chile, with twelve. Next door, Atacama and Antofagasta, the heart of the copper and lithium area, have many mines and many conflicts. Of course, this is an overlap on the map, not proof that mines cause the conflicts.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Zoom on our three Andean countries: 260 mining sites (Peru 129, Chile 102, Argentina 29). Click: 123 recorded mining conflicts (Chile 49, Peru 46, Argentina 28) appear in the same provinces as the mines: the Chilean copper belt, the Peruvian highlands (Cajamarca, Áncash, Cusco, Puno) and the lithium area of Jujuy and Catamarca. Coquimbo has 12 conflicts, more than any province in Latin America.</a:t>
            </a:r>
            <a:endParaRPr/>
          </a:p>
        </p:txBody>
      </p:sp>
      <p:sp>
        <p:nvSpPr>
          <p:cNvPr id="225" name="Google Shape;2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(~18s): This brings us to our research question: do resource-rich countries in Latin America see more killings of environmental defenders? Killings are the most extreme form of conflict, so we looked at them in depth, using Global Witness data from 2012 to 2025.</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Our research question. The maps showed that mining sites and mining conflicts appear in the same countries and provinces. Now we ask whether the same holds for the most extreme form of conflict: the killing of environmental defenders (Global Witness, Latin America, 2012–2025).</a:t>
            </a:r>
            <a:endParaRPr/>
          </a:p>
        </p:txBody>
      </p:sp>
      <p:sp>
        <p:nvSpPr>
          <p:cNvPr id="248" name="Google Shape;24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(~23s): Global Witness recorded 1,722 land and environmental defenders killed in Latin America in that period. On the left, all killings: Colombia and Brazil lead by far. On the right, only the killings linked to mining: 200 people. Here Colombia, Mexico and Peru lead. Mining is the second driver of these killings, after land disputes.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attacks on environmental defenders, and above all killings, are the most extreme form of mining conflict, so we treat them as part of the conflict picture and look at them in depth. Global Witness records 1,722 killed land and environmental defenders in Latin America between 2012 and 2025. 200 of them (12 %) are linked to mining and extractives. Colombia and Brazil top the overall list; for mining-related killings Colombia, Mexico and Peru lead. Note that one case has only one driver: a killing tied to both land and mining may be filed under land.</a:t>
            </a:r>
            <a:endParaRPr/>
          </a:p>
        </p:txBody>
      </p:sp>
      <p:sp>
        <p:nvSpPr>
          <p:cNvPr id="256" name="Google Shape;25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DIEGO (~32s): And here is the surprise. On the left we compare each country's share of mining conflicts with its share of mining killings. Mexico and Peru are high on both. But Chile and Argentina have many conflicts and no recorded mining killings, while Colombia has few conflicts and the most killings. On the right, over time, land disputes are always the main driver, and they rose sharply after 2018. Mining stays lower, but it never disappears.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Mexico and Peru are high on both lists. Chile and Argentina have many conflicts but no recorded mining killings. Colombia, Guatemala and Venezuela have far more mining killings than their conflict count suggests. The rank correlation is weak (rho 0.35, not significant). Right chart, from Diego's notebook: land disputes are the largest driver in every year and rose sharply after 2018 (28 killings in 2018, 123 in 2022 and 2023). Mining-related killings go up and down between 4 and 26 a year, with peaks in 2019, 2021 and 2023; in 2022 they dropped to 4. Mining was never the main driver, but it was often the second one.</a:t>
            </a:r>
            <a:endParaRPr/>
          </a:p>
        </p:txBody>
      </p:sp>
      <p:sp>
        <p:nvSpPr>
          <p:cNvPr id="268" name="Google Shape;26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(~1s): Let's conclude.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Part 04: Conclusions. What the data supports, and what stays open.</a:t>
            </a:r>
            <a:endParaRPr/>
          </a:p>
        </p:txBody>
      </p:sp>
      <p:sp>
        <p:nvSpPr>
          <p:cNvPr id="280" name="Google Shape;28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LENA (~35s): Four points. One: demand is rising, and Latin America is a key supplier. Two: mines and conflicts overlap, in the same countries and provinces. Three: what our data can't show is whether rising demand will spark more conflicts in the future; our conflict data stop in 2019. And four, our answer to the research question: only partly. Resource-rich countries see more mining conflicts, but not always more killings. Violence depends on other factors too, such as land disputes and armed groups.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1) Demand: IEA projects clean-energy demand for lithium about four times higher in 2040 than in 2025; Latin America mines about 35 % of world copper. 2) The maps show mining conflicts in the same countries and provinces as mining sites. 3) What our data can't show: whether rising demand for critical minerals will spark more conflicts over time. The conflict list stops in 2019 and we have no projection of conflicts, only of production. 4) Answer to our research question: resource-rich countries do see more mining conflicts, but not consistently more killings; land disputes are the first driver of killings, mining the second. Association, not cause: all sources under-record.</a:t>
            </a:r>
            <a:endParaRPr/>
          </a:p>
        </p:txBody>
      </p:sp>
      <p:sp>
        <p:nvSpPr>
          <p:cNvPr id="297" name="Google Shape;29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BOTH (~5s): Thank you for listening. We are happy to take your questions.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 Background (not to read out) —</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Thank the audience and open the floor for questions.</a:t>
            </a:r>
            <a:endParaRPr/>
          </a:p>
        </p:txBody>
      </p:sp>
      <p:sp>
        <p:nvSpPr>
          <p:cNvPr id="317" name="Google Shape;31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E6EDF3"/>
        </a:solid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812800" y="990600"/>
            <a:ext cx="4699000" cy="8382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4202F"/>
              </a:buClr>
              <a:buSzPts val="3000"/>
              <a:buFont typeface="Georgia"/>
              <a:buNone/>
              <a:defRPr b="0" i="0" sz="3000" u="none" cap="none" strike="noStrike">
                <a:solidFill>
                  <a:srgbClr val="14202F"/>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
          <p:cNvSpPr txBox="1"/>
          <p:nvPr>
            <p:ph idx="1" type="body"/>
          </p:nvPr>
        </p:nvSpPr>
        <p:spPr>
          <a:xfrm>
            <a:off x="812800" y="2133600"/>
            <a:ext cx="10566400" cy="39116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4202F"/>
              </a:buClr>
              <a:buSzPts val="1600"/>
              <a:buFont typeface="Arial"/>
              <a:buNone/>
              <a:defRPr b="0" i="0" sz="1600" u="none" cap="none" strike="noStrike">
                <a:solidFill>
                  <a:srgbClr val="14202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8.png"/><Relationship Id="rId9" Type="http://schemas.openxmlformats.org/officeDocument/2006/relationships/image" Target="../media/image21.png"/><Relationship Id="rId5" Type="http://schemas.openxmlformats.org/officeDocument/2006/relationships/image" Target="../media/image30.png"/><Relationship Id="rId6" Type="http://schemas.openxmlformats.org/officeDocument/2006/relationships/image" Target="../media/image20.png"/><Relationship Id="rId7" Type="http://schemas.openxmlformats.org/officeDocument/2006/relationships/image" Target="../media/image19.png"/><Relationship Id="rId8"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0.png"/><Relationship Id="rId7" Type="http://schemas.openxmlformats.org/officeDocument/2006/relationships/image" Target="../media/image19.png"/><Relationship Id="rId8"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18" name="Shape 18"/>
        <p:cNvGrpSpPr/>
        <p:nvPr/>
      </p:nvGrpSpPr>
      <p:grpSpPr>
        <a:xfrm>
          <a:off x="0" y="0"/>
          <a:ext cx="0" cy="0"/>
          <a:chOff x="0" y="0"/>
          <a:chExt cx="0" cy="0"/>
        </a:xfrm>
      </p:grpSpPr>
      <p:pic>
        <p:nvPicPr>
          <p:cNvPr descr="cover_map_photo.png" id="19" name="Google Shape;19;p4"/>
          <p:cNvPicPr preferRelativeResize="0"/>
          <p:nvPr/>
        </p:nvPicPr>
        <p:blipFill rotWithShape="1">
          <a:blip r:embed="rId3">
            <a:alphaModFix/>
          </a:blip>
          <a:srcRect b="0" l="0" r="0" t="0"/>
          <a:stretch/>
        </p:blipFill>
        <p:spPr>
          <a:xfrm>
            <a:off x="6007100" y="0"/>
            <a:ext cx="6184900" cy="6858000"/>
          </a:xfrm>
          <a:prstGeom prst="rect">
            <a:avLst/>
          </a:prstGeom>
          <a:noFill/>
          <a:ln>
            <a:noFill/>
          </a:ln>
        </p:spPr>
      </p:pic>
      <p:sp>
        <p:nvSpPr>
          <p:cNvPr id="20" name="Google Shape;20;p4"/>
          <p:cNvSpPr/>
          <p:nvPr/>
        </p:nvSpPr>
        <p:spPr>
          <a:xfrm>
            <a:off x="812800" y="901700"/>
            <a:ext cx="576072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392A"/>
              </a:buClr>
              <a:buSzPts val="1200"/>
              <a:buFont typeface="Arial"/>
              <a:buNone/>
            </a:pPr>
            <a:r>
              <a:rPr b="1" i="0" lang="en-US" sz="1200" u="none" cap="none" strike="noStrike">
                <a:solidFill>
                  <a:srgbClr val="B8392A"/>
                </a:solidFill>
                <a:latin typeface="Arial"/>
                <a:ea typeface="Arial"/>
                <a:cs typeface="Arial"/>
                <a:sym typeface="Arial"/>
              </a:rPr>
              <a:t>CRITICAL MINERALS IN LATIN AMERICA</a:t>
            </a:r>
            <a:endParaRPr b="0" i="0" sz="1200" u="none" cap="none" strike="noStrike">
              <a:solidFill>
                <a:schemeClr val="dk1"/>
              </a:solidFill>
              <a:latin typeface="Arial"/>
              <a:ea typeface="Arial"/>
              <a:cs typeface="Arial"/>
              <a:sym typeface="Arial"/>
            </a:endParaRPr>
          </a:p>
        </p:txBody>
      </p:sp>
      <p:sp>
        <p:nvSpPr>
          <p:cNvPr id="21" name="Google Shape;21;p4"/>
          <p:cNvSpPr txBox="1"/>
          <p:nvPr>
            <p:ph type="title"/>
          </p:nvPr>
        </p:nvSpPr>
        <p:spPr>
          <a:xfrm>
            <a:off x="812800" y="1282700"/>
            <a:ext cx="4970780" cy="1232396"/>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14202F"/>
              </a:buClr>
              <a:buSzPts val="4400"/>
              <a:buFont typeface="Georgia"/>
              <a:buNone/>
            </a:pPr>
            <a:r>
              <a:rPr b="1" i="0" lang="en-US" sz="4400">
                <a:solidFill>
                  <a:srgbClr val="14202F"/>
                </a:solidFill>
                <a:latin typeface="Georgia"/>
                <a:ea typeface="Georgia"/>
                <a:cs typeface="Georgia"/>
                <a:sym typeface="Georgia"/>
              </a:rPr>
              <a:t>Where mining meets conflict</a:t>
            </a:r>
            <a:endParaRPr sz="4400"/>
          </a:p>
        </p:txBody>
      </p:sp>
      <p:sp>
        <p:nvSpPr>
          <p:cNvPr id="22" name="Google Shape;22;p4"/>
          <p:cNvSpPr/>
          <p:nvPr/>
        </p:nvSpPr>
        <p:spPr>
          <a:xfrm>
            <a:off x="812800" y="6141740"/>
            <a:ext cx="497078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576"/>
              </a:buClr>
              <a:buSzPts val="1200"/>
              <a:buFont typeface="Arial"/>
              <a:buNone/>
            </a:pPr>
            <a:r>
              <a:rPr b="0" i="0" lang="en-US" sz="1200" u="none" cap="none" strike="noStrike">
                <a:solidFill>
                  <a:srgbClr val="5A6576"/>
                </a:solidFill>
                <a:latin typeface="Arial"/>
                <a:ea typeface="Arial"/>
                <a:cs typeface="Arial"/>
                <a:sym typeface="Arial"/>
              </a:rPr>
              <a:t>Sources: IEA (2026); ICMM Global Mining Dataset v1.5 (2026); OCMAL; Global Witness.</a:t>
            </a:r>
            <a:endParaRPr b="0" i="0" sz="1200" u="none" cap="none" strike="noStrike">
              <a:solidFill>
                <a:schemeClr val="dk1"/>
              </a:solidFill>
              <a:latin typeface="Arial"/>
              <a:ea typeface="Arial"/>
              <a:cs typeface="Arial"/>
              <a:sym typeface="Arial"/>
            </a:endParaRPr>
          </a:p>
        </p:txBody>
      </p:sp>
      <p:sp>
        <p:nvSpPr>
          <p:cNvPr id="23" name="Google Shape;23;p4"/>
          <p:cNvSpPr/>
          <p:nvPr/>
        </p:nvSpPr>
        <p:spPr>
          <a:xfrm>
            <a:off x="812901" y="2926080"/>
            <a:ext cx="731520" cy="731520"/>
          </a:xfrm>
          <a:prstGeom prst="ellipse">
            <a:avLst/>
          </a:prstGeom>
          <a:solidFill>
            <a:srgbClr val="F6F3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fi_demand.png" id="24" name="Google Shape;24;p4"/>
          <p:cNvPicPr preferRelativeResize="0"/>
          <p:nvPr/>
        </p:nvPicPr>
        <p:blipFill rotWithShape="1">
          <a:blip r:embed="rId4">
            <a:alphaModFix/>
          </a:blip>
          <a:srcRect b="0" l="0" r="0" t="0"/>
          <a:stretch/>
        </p:blipFill>
        <p:spPr>
          <a:xfrm>
            <a:off x="873709" y="2986888"/>
            <a:ext cx="609904" cy="609904"/>
          </a:xfrm>
          <a:prstGeom prst="rect">
            <a:avLst/>
          </a:prstGeom>
          <a:noFill/>
          <a:ln>
            <a:noFill/>
          </a:ln>
        </p:spPr>
      </p:pic>
      <p:sp>
        <p:nvSpPr>
          <p:cNvPr id="25" name="Google Shape;25;p4"/>
          <p:cNvSpPr/>
          <p:nvPr/>
        </p:nvSpPr>
        <p:spPr>
          <a:xfrm>
            <a:off x="1681581" y="3200400"/>
            <a:ext cx="292608" cy="182880"/>
          </a:xfrm>
          <a:prstGeom prst="rightArrow">
            <a:avLst>
              <a:gd fmla="val 50000" name="adj1"/>
              <a:gd fmla="val 50000" name="adj2"/>
            </a:avLst>
          </a:prstGeom>
          <a:solidFill>
            <a:srgbClr val="D99A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4"/>
          <p:cNvSpPr txBox="1"/>
          <p:nvPr/>
        </p:nvSpPr>
        <p:spPr>
          <a:xfrm>
            <a:off x="812901" y="3794760"/>
            <a:ext cx="118872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202F"/>
                </a:solidFill>
                <a:latin typeface="Arial"/>
                <a:ea typeface="Arial"/>
                <a:cs typeface="Arial"/>
                <a:sym typeface="Arial"/>
              </a:rPr>
              <a:t>Demand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rises for minerals and gold</a:t>
            </a:r>
            <a:endParaRPr b="0" i="0" sz="1400" u="none" cap="none" strike="noStrike">
              <a:solidFill>
                <a:srgbClr val="000000"/>
              </a:solidFill>
              <a:latin typeface="Arial"/>
              <a:ea typeface="Arial"/>
              <a:cs typeface="Arial"/>
              <a:sym typeface="Arial"/>
            </a:endParaRPr>
          </a:p>
        </p:txBody>
      </p:sp>
      <p:sp>
        <p:nvSpPr>
          <p:cNvPr id="27" name="Google Shape;27;p4"/>
          <p:cNvSpPr/>
          <p:nvPr/>
        </p:nvSpPr>
        <p:spPr>
          <a:xfrm>
            <a:off x="2111349" y="2926080"/>
            <a:ext cx="731520" cy="731520"/>
          </a:xfrm>
          <a:prstGeom prst="ellipse">
            <a:avLst/>
          </a:prstGeom>
          <a:solidFill>
            <a:srgbClr val="F6F3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fi_minecart.png" id="28" name="Google Shape;28;p4"/>
          <p:cNvPicPr preferRelativeResize="0"/>
          <p:nvPr/>
        </p:nvPicPr>
        <p:blipFill rotWithShape="1">
          <a:blip r:embed="rId5">
            <a:alphaModFix/>
          </a:blip>
          <a:srcRect b="0" l="0" r="0" t="0"/>
          <a:stretch/>
        </p:blipFill>
        <p:spPr>
          <a:xfrm>
            <a:off x="2172157" y="2986888"/>
            <a:ext cx="609904" cy="609904"/>
          </a:xfrm>
          <a:prstGeom prst="rect">
            <a:avLst/>
          </a:prstGeom>
          <a:noFill/>
          <a:ln>
            <a:noFill/>
          </a:ln>
        </p:spPr>
      </p:pic>
      <p:sp>
        <p:nvSpPr>
          <p:cNvPr id="29" name="Google Shape;29;p4"/>
          <p:cNvSpPr/>
          <p:nvPr/>
        </p:nvSpPr>
        <p:spPr>
          <a:xfrm>
            <a:off x="2980029" y="3200400"/>
            <a:ext cx="292608" cy="182880"/>
          </a:xfrm>
          <a:prstGeom prst="rightArrow">
            <a:avLst>
              <a:gd fmla="val 50000" name="adj1"/>
              <a:gd fmla="val 50000" name="adj2"/>
            </a:avLst>
          </a:prstGeom>
          <a:solidFill>
            <a:srgbClr val="D99A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 name="Google Shape;30;p4"/>
          <p:cNvSpPr txBox="1"/>
          <p:nvPr/>
        </p:nvSpPr>
        <p:spPr>
          <a:xfrm>
            <a:off x="2111349" y="3794760"/>
            <a:ext cx="118872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202F"/>
                </a:solidFill>
                <a:latin typeface="Arial"/>
                <a:ea typeface="Arial"/>
                <a:cs typeface="Arial"/>
                <a:sym typeface="Arial"/>
              </a:rPr>
              <a:t>Mining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expands in Latin America</a:t>
            </a:r>
            <a:endParaRPr b="0" i="0" sz="1400" u="none" cap="none" strike="noStrike">
              <a:solidFill>
                <a:srgbClr val="000000"/>
              </a:solidFill>
              <a:latin typeface="Arial"/>
              <a:ea typeface="Arial"/>
              <a:cs typeface="Arial"/>
              <a:sym typeface="Arial"/>
            </a:endParaRPr>
          </a:p>
        </p:txBody>
      </p:sp>
      <p:sp>
        <p:nvSpPr>
          <p:cNvPr id="31" name="Google Shape;31;p4"/>
          <p:cNvSpPr/>
          <p:nvPr/>
        </p:nvSpPr>
        <p:spPr>
          <a:xfrm>
            <a:off x="3409797" y="2926080"/>
            <a:ext cx="731520" cy="731520"/>
          </a:xfrm>
          <a:prstGeom prst="ellipse">
            <a:avLst/>
          </a:prstGeom>
          <a:solidFill>
            <a:srgbClr val="F6F3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fi_protest.png" id="32" name="Google Shape;32;p4"/>
          <p:cNvPicPr preferRelativeResize="0"/>
          <p:nvPr/>
        </p:nvPicPr>
        <p:blipFill rotWithShape="1">
          <a:blip r:embed="rId6">
            <a:alphaModFix/>
          </a:blip>
          <a:srcRect b="0" l="0" r="0" t="0"/>
          <a:stretch/>
        </p:blipFill>
        <p:spPr>
          <a:xfrm>
            <a:off x="3470605" y="2986888"/>
            <a:ext cx="609904" cy="609904"/>
          </a:xfrm>
          <a:prstGeom prst="rect">
            <a:avLst/>
          </a:prstGeom>
          <a:noFill/>
          <a:ln>
            <a:noFill/>
          </a:ln>
        </p:spPr>
      </p:pic>
      <p:sp>
        <p:nvSpPr>
          <p:cNvPr id="33" name="Google Shape;33;p4"/>
          <p:cNvSpPr/>
          <p:nvPr/>
        </p:nvSpPr>
        <p:spPr>
          <a:xfrm>
            <a:off x="4278477" y="3200400"/>
            <a:ext cx="292608" cy="182880"/>
          </a:xfrm>
          <a:prstGeom prst="rightArrow">
            <a:avLst>
              <a:gd fmla="val 50000" name="adj1"/>
              <a:gd fmla="val 50000" name="adj2"/>
            </a:avLst>
          </a:prstGeom>
          <a:solidFill>
            <a:srgbClr val="D99A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 name="Google Shape;34;p4"/>
          <p:cNvSpPr txBox="1"/>
          <p:nvPr/>
        </p:nvSpPr>
        <p:spPr>
          <a:xfrm>
            <a:off x="3409797" y="3794760"/>
            <a:ext cx="118872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202F"/>
                </a:solidFill>
                <a:latin typeface="Arial"/>
                <a:ea typeface="Arial"/>
                <a:cs typeface="Arial"/>
                <a:sym typeface="Arial"/>
              </a:rPr>
              <a:t>Conflict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follows the mines</a:t>
            </a:r>
            <a:endParaRPr b="0" i="0" sz="1400" u="none" cap="none" strike="noStrike">
              <a:solidFill>
                <a:srgbClr val="000000"/>
              </a:solidFill>
              <a:latin typeface="Arial"/>
              <a:ea typeface="Arial"/>
              <a:cs typeface="Arial"/>
              <a:sym typeface="Arial"/>
            </a:endParaRPr>
          </a:p>
        </p:txBody>
      </p:sp>
      <p:sp>
        <p:nvSpPr>
          <p:cNvPr id="35" name="Google Shape;35;p4"/>
          <p:cNvSpPr/>
          <p:nvPr/>
        </p:nvSpPr>
        <p:spPr>
          <a:xfrm>
            <a:off x="4708245" y="2926080"/>
            <a:ext cx="731520" cy="731520"/>
          </a:xfrm>
          <a:prstGeom prst="ellipse">
            <a:avLst/>
          </a:prstGeom>
          <a:solidFill>
            <a:srgbClr val="F6F3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fi_defender.png" id="36" name="Google Shape;36;p4"/>
          <p:cNvPicPr preferRelativeResize="0"/>
          <p:nvPr/>
        </p:nvPicPr>
        <p:blipFill rotWithShape="1">
          <a:blip r:embed="rId7">
            <a:alphaModFix/>
          </a:blip>
          <a:srcRect b="0" l="0" r="0" t="0"/>
          <a:stretch/>
        </p:blipFill>
        <p:spPr>
          <a:xfrm>
            <a:off x="4769053" y="2986888"/>
            <a:ext cx="609904" cy="609904"/>
          </a:xfrm>
          <a:prstGeom prst="rect">
            <a:avLst/>
          </a:prstGeom>
          <a:noFill/>
          <a:ln>
            <a:noFill/>
          </a:ln>
        </p:spPr>
      </p:pic>
      <p:sp>
        <p:nvSpPr>
          <p:cNvPr id="37" name="Google Shape;37;p4"/>
          <p:cNvSpPr txBox="1"/>
          <p:nvPr/>
        </p:nvSpPr>
        <p:spPr>
          <a:xfrm>
            <a:off x="4708245" y="3794760"/>
            <a:ext cx="118872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202F"/>
                </a:solidFill>
                <a:latin typeface="Arial"/>
                <a:ea typeface="Arial"/>
                <a:cs typeface="Arial"/>
                <a:sym typeface="Arial"/>
              </a:rPr>
              <a:t>Defenders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killed: the extreme form</a:t>
            </a:r>
            <a:endParaRPr b="0" i="0" sz="1400" u="none" cap="none" strike="noStrike">
              <a:solidFill>
                <a:srgbClr val="000000"/>
              </a:solidFill>
              <a:latin typeface="Arial"/>
              <a:ea typeface="Arial"/>
              <a:cs typeface="Arial"/>
              <a:sym typeface="Arial"/>
            </a:endParaRPr>
          </a:p>
        </p:txBody>
      </p:sp>
      <p:sp>
        <p:nvSpPr>
          <p:cNvPr id="38" name="Google Shape;38;p4"/>
          <p:cNvSpPr txBox="1"/>
          <p:nvPr/>
        </p:nvSpPr>
        <p:spPr>
          <a:xfrm>
            <a:off x="812901" y="4983480"/>
            <a:ext cx="493776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Diego &amp; Lena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rgbClr val="5F6B7C"/>
                </a:solidFill>
                <a:latin typeface="Arial"/>
                <a:ea typeface="Arial"/>
                <a:cs typeface="Arial"/>
                <a:sym typeface="Arial"/>
              </a:rPr>
              <a:t>Team Tokio · Ironhack</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43" name="Shape 43"/>
        <p:cNvGrpSpPr/>
        <p:nvPr/>
      </p:nvGrpSpPr>
      <p:grpSpPr>
        <a:xfrm>
          <a:off x="0" y="0"/>
          <a:ext cx="0" cy="0"/>
          <a:chOff x="0" y="0"/>
          <a:chExt cx="0" cy="0"/>
        </a:xfrm>
      </p:grpSpPr>
      <p:sp>
        <p:nvSpPr>
          <p:cNvPr id="44" name="Google Shape;44;p5"/>
          <p:cNvSpPr txBox="1"/>
          <p:nvPr/>
        </p:nvSpPr>
        <p:spPr>
          <a:xfrm>
            <a:off x="812901" y="812901"/>
            <a:ext cx="10565893" cy="2468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THE STORY IN FOUR STEPS</a:t>
            </a:r>
            <a:endParaRPr b="0" i="0" sz="1400" u="none" cap="none" strike="noStrike">
              <a:solidFill>
                <a:srgbClr val="000000"/>
              </a:solidFill>
              <a:latin typeface="Arial"/>
              <a:ea typeface="Arial"/>
              <a:cs typeface="Arial"/>
              <a:sym typeface="Arial"/>
            </a:endParaRPr>
          </a:p>
        </p:txBody>
      </p:sp>
      <p:sp>
        <p:nvSpPr>
          <p:cNvPr id="45" name="Google Shape;45;p5"/>
          <p:cNvSpPr txBox="1"/>
          <p:nvPr/>
        </p:nvSpPr>
        <p:spPr>
          <a:xfrm>
            <a:off x="812901" y="1127455"/>
            <a:ext cx="10565893" cy="868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From global demand to local conflict</a:t>
            </a:r>
            <a:endParaRPr b="0" i="0" sz="1400" u="none" cap="none" strike="noStrike">
              <a:solidFill>
                <a:srgbClr val="000000"/>
              </a:solidFill>
              <a:latin typeface="Arial"/>
              <a:ea typeface="Arial"/>
              <a:cs typeface="Arial"/>
              <a:sym typeface="Arial"/>
            </a:endParaRPr>
          </a:p>
        </p:txBody>
      </p:sp>
      <p:sp>
        <p:nvSpPr>
          <p:cNvPr id="46" name="Google Shape;46;p5"/>
          <p:cNvSpPr/>
          <p:nvPr/>
        </p:nvSpPr>
        <p:spPr>
          <a:xfrm>
            <a:off x="812901" y="2377440"/>
            <a:ext cx="2435733" cy="274320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 name="Google Shape;47;p5"/>
          <p:cNvSpPr txBox="1"/>
          <p:nvPr/>
        </p:nvSpPr>
        <p:spPr>
          <a:xfrm>
            <a:off x="1087221" y="2651760"/>
            <a:ext cx="1887093" cy="7315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4000"/>
              <a:buFont typeface="Arial"/>
              <a:buNone/>
            </a:pPr>
            <a:r>
              <a:rPr b="1" i="0" lang="en-US" sz="4000" u="none" cap="none" strike="noStrike">
                <a:solidFill>
                  <a:srgbClr val="B8392A"/>
                </a:solidFill>
                <a:latin typeface="Georgia"/>
                <a:ea typeface="Georgia"/>
                <a:cs typeface="Georgia"/>
                <a:sym typeface="Georgia"/>
              </a:rPr>
              <a:t>01</a:t>
            </a:r>
            <a:endParaRPr b="0" i="0" sz="1400" u="none" cap="none" strike="noStrike">
              <a:solidFill>
                <a:srgbClr val="000000"/>
              </a:solidFill>
              <a:latin typeface="Arial"/>
              <a:ea typeface="Arial"/>
              <a:cs typeface="Arial"/>
              <a:sym typeface="Arial"/>
            </a:endParaRPr>
          </a:p>
        </p:txBody>
      </p:sp>
      <p:sp>
        <p:nvSpPr>
          <p:cNvPr id="48" name="Google Shape;48;p5"/>
          <p:cNvSpPr txBox="1"/>
          <p:nvPr/>
        </p:nvSpPr>
        <p:spPr>
          <a:xfrm>
            <a:off x="1087221" y="3474720"/>
            <a:ext cx="18870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14202F"/>
                </a:solidFill>
                <a:latin typeface="Arial"/>
                <a:ea typeface="Arial"/>
                <a:cs typeface="Arial"/>
                <a:sym typeface="Arial"/>
              </a:rPr>
              <a:t>Introduction</a:t>
            </a:r>
            <a:endParaRPr b="0" i="0" sz="1400" u="none" cap="none" strike="noStrike">
              <a:solidFill>
                <a:srgbClr val="000000"/>
              </a:solidFill>
              <a:latin typeface="Arial"/>
              <a:ea typeface="Arial"/>
              <a:cs typeface="Arial"/>
              <a:sym typeface="Arial"/>
            </a:endParaRPr>
          </a:p>
        </p:txBody>
      </p:sp>
      <p:sp>
        <p:nvSpPr>
          <p:cNvPr id="49" name="Google Shape;49;p5"/>
          <p:cNvSpPr txBox="1"/>
          <p:nvPr/>
        </p:nvSpPr>
        <p:spPr>
          <a:xfrm>
            <a:off x="1087221" y="4160520"/>
            <a:ext cx="1887093"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Why critical minerals, and why Latin America</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3522954" y="2377440"/>
            <a:ext cx="2435733" cy="274320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 name="Google Shape;51;p5"/>
          <p:cNvSpPr txBox="1"/>
          <p:nvPr/>
        </p:nvSpPr>
        <p:spPr>
          <a:xfrm>
            <a:off x="3797274" y="2651760"/>
            <a:ext cx="1887093" cy="7315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4000"/>
              <a:buFont typeface="Arial"/>
              <a:buNone/>
            </a:pPr>
            <a:r>
              <a:rPr b="1" i="0" lang="en-US" sz="4000" u="none" cap="none" strike="noStrike">
                <a:solidFill>
                  <a:srgbClr val="B8392A"/>
                </a:solidFill>
                <a:latin typeface="Georgia"/>
                <a:ea typeface="Georgia"/>
                <a:cs typeface="Georgia"/>
                <a:sym typeface="Georgia"/>
              </a:rPr>
              <a:t>02</a:t>
            </a:r>
            <a:endParaRPr b="0" i="0" sz="1400" u="none" cap="none" strike="noStrike">
              <a:solidFill>
                <a:srgbClr val="000000"/>
              </a:solidFill>
              <a:latin typeface="Arial"/>
              <a:ea typeface="Arial"/>
              <a:cs typeface="Arial"/>
              <a:sym typeface="Arial"/>
            </a:endParaRPr>
          </a:p>
        </p:txBody>
      </p:sp>
      <p:sp>
        <p:nvSpPr>
          <p:cNvPr id="52" name="Google Shape;52;p5"/>
          <p:cNvSpPr txBox="1"/>
          <p:nvPr/>
        </p:nvSpPr>
        <p:spPr>
          <a:xfrm>
            <a:off x="3797274" y="3474720"/>
            <a:ext cx="1887093" cy="6400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14202F"/>
                </a:solidFill>
                <a:latin typeface="Arial"/>
                <a:ea typeface="Arial"/>
                <a:cs typeface="Arial"/>
                <a:sym typeface="Arial"/>
              </a:rPr>
              <a:t>Production &amp; sites</a:t>
            </a:r>
            <a:endParaRPr b="0" i="0" sz="1400" u="none" cap="none" strike="noStrike">
              <a:solidFill>
                <a:srgbClr val="000000"/>
              </a:solidFill>
              <a:latin typeface="Arial"/>
              <a:ea typeface="Arial"/>
              <a:cs typeface="Arial"/>
              <a:sym typeface="Arial"/>
            </a:endParaRPr>
          </a:p>
        </p:txBody>
      </p:sp>
      <p:sp>
        <p:nvSpPr>
          <p:cNvPr id="53" name="Google Shape;53;p5"/>
          <p:cNvSpPr txBox="1"/>
          <p:nvPr/>
        </p:nvSpPr>
        <p:spPr>
          <a:xfrm>
            <a:off x="3797274" y="4160520"/>
            <a:ext cx="1887093"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Who produces what, and where the mining sites are</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a:off x="6233007" y="2377440"/>
            <a:ext cx="2435733" cy="274320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 name="Google Shape;55;p5"/>
          <p:cNvSpPr txBox="1"/>
          <p:nvPr/>
        </p:nvSpPr>
        <p:spPr>
          <a:xfrm>
            <a:off x="6507327" y="2651760"/>
            <a:ext cx="1887093" cy="7315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4000"/>
              <a:buFont typeface="Arial"/>
              <a:buNone/>
            </a:pPr>
            <a:r>
              <a:rPr b="1" i="0" lang="en-US" sz="4000" u="none" cap="none" strike="noStrike">
                <a:solidFill>
                  <a:srgbClr val="B8392A"/>
                </a:solidFill>
                <a:latin typeface="Georgia"/>
                <a:ea typeface="Georgia"/>
                <a:cs typeface="Georgia"/>
                <a:sym typeface="Georgia"/>
              </a:rPr>
              <a:t>03</a:t>
            </a:r>
            <a:endParaRPr b="0" i="0" sz="1400" u="none" cap="none" strike="noStrike">
              <a:solidFill>
                <a:srgbClr val="000000"/>
              </a:solidFill>
              <a:latin typeface="Arial"/>
              <a:ea typeface="Arial"/>
              <a:cs typeface="Arial"/>
              <a:sym typeface="Arial"/>
            </a:endParaRPr>
          </a:p>
        </p:txBody>
      </p:sp>
      <p:sp>
        <p:nvSpPr>
          <p:cNvPr id="56" name="Google Shape;56;p5"/>
          <p:cNvSpPr txBox="1"/>
          <p:nvPr/>
        </p:nvSpPr>
        <p:spPr>
          <a:xfrm>
            <a:off x="6507327" y="3474720"/>
            <a:ext cx="1887093" cy="6400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14202F"/>
                </a:solidFill>
                <a:latin typeface="Arial"/>
                <a:ea typeface="Arial"/>
                <a:cs typeface="Arial"/>
                <a:sym typeface="Arial"/>
              </a:rPr>
              <a:t>Conflicts &amp; abuses</a:t>
            </a:r>
            <a:endParaRPr b="0" i="0" sz="1400" u="none" cap="none" strike="noStrike">
              <a:solidFill>
                <a:srgbClr val="000000"/>
              </a:solidFill>
              <a:latin typeface="Arial"/>
              <a:ea typeface="Arial"/>
              <a:cs typeface="Arial"/>
              <a:sym typeface="Arial"/>
            </a:endParaRPr>
          </a:p>
        </p:txBody>
      </p:sp>
      <p:sp>
        <p:nvSpPr>
          <p:cNvPr id="57" name="Google Shape;57;p5"/>
          <p:cNvSpPr txBox="1"/>
          <p:nvPr/>
        </p:nvSpPr>
        <p:spPr>
          <a:xfrm>
            <a:off x="6507327" y="4160520"/>
            <a:ext cx="1887093"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Mining conflicts, and a deep dive on killed defenders</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a:off x="8943060" y="2377440"/>
            <a:ext cx="2435733" cy="274320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 name="Google Shape;59;p5"/>
          <p:cNvSpPr txBox="1"/>
          <p:nvPr/>
        </p:nvSpPr>
        <p:spPr>
          <a:xfrm>
            <a:off x="9217380" y="2651760"/>
            <a:ext cx="1887093" cy="7315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4000"/>
              <a:buFont typeface="Arial"/>
              <a:buNone/>
            </a:pPr>
            <a:r>
              <a:rPr b="1" i="0" lang="en-US" sz="4000" u="none" cap="none" strike="noStrike">
                <a:solidFill>
                  <a:srgbClr val="B8392A"/>
                </a:solidFill>
                <a:latin typeface="Georgia"/>
                <a:ea typeface="Georgia"/>
                <a:cs typeface="Georgia"/>
                <a:sym typeface="Georgia"/>
              </a:rPr>
              <a:t>04</a:t>
            </a:r>
            <a:endParaRPr b="0" i="0" sz="1400" u="none" cap="none" strike="noStrike">
              <a:solidFill>
                <a:srgbClr val="000000"/>
              </a:solidFill>
              <a:latin typeface="Arial"/>
              <a:ea typeface="Arial"/>
              <a:cs typeface="Arial"/>
              <a:sym typeface="Arial"/>
            </a:endParaRPr>
          </a:p>
        </p:txBody>
      </p:sp>
      <p:sp>
        <p:nvSpPr>
          <p:cNvPr id="60" name="Google Shape;60;p5"/>
          <p:cNvSpPr txBox="1"/>
          <p:nvPr/>
        </p:nvSpPr>
        <p:spPr>
          <a:xfrm>
            <a:off x="9217380" y="3474720"/>
            <a:ext cx="1887093" cy="6400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14202F"/>
                </a:solidFill>
                <a:latin typeface="Arial"/>
                <a:ea typeface="Arial"/>
                <a:cs typeface="Arial"/>
                <a:sym typeface="Arial"/>
              </a:rPr>
              <a:t>Conclusions</a:t>
            </a:r>
            <a:endParaRPr b="0" i="0" sz="1400" u="none" cap="none" strike="noStrike">
              <a:solidFill>
                <a:srgbClr val="000000"/>
              </a:solidFill>
              <a:latin typeface="Arial"/>
              <a:ea typeface="Arial"/>
              <a:cs typeface="Arial"/>
              <a:sym typeface="Arial"/>
            </a:endParaRPr>
          </a:p>
        </p:txBody>
      </p:sp>
      <p:sp>
        <p:nvSpPr>
          <p:cNvPr id="61" name="Google Shape;61;p5"/>
          <p:cNvSpPr txBox="1"/>
          <p:nvPr/>
        </p:nvSpPr>
        <p:spPr>
          <a:xfrm>
            <a:off x="9217380" y="4160520"/>
            <a:ext cx="1887093"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What the data supports, and what stays open</a:t>
            </a:r>
            <a:endParaRPr b="0" i="0" sz="1400" u="none" cap="none" strike="noStrike">
              <a:solidFill>
                <a:srgbClr val="000000"/>
              </a:solidFill>
              <a:latin typeface="Arial"/>
              <a:ea typeface="Arial"/>
              <a:cs typeface="Arial"/>
              <a:sym typeface="Arial"/>
            </a:endParaRPr>
          </a:p>
        </p:txBody>
      </p:sp>
      <p:sp>
        <p:nvSpPr>
          <p:cNvPr id="62" name="Google Shape;62;p5"/>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Team Tokio · Diego and Lena</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D5E2"/>
        </a:solidFill>
      </p:bgPr>
    </p:bg>
    <p:spTree>
      <p:nvGrpSpPr>
        <p:cNvPr id="67" name="Shape 67"/>
        <p:cNvGrpSpPr/>
        <p:nvPr/>
      </p:nvGrpSpPr>
      <p:grpSpPr>
        <a:xfrm>
          <a:off x="0" y="0"/>
          <a:ext cx="0" cy="0"/>
          <a:chOff x="0" y="0"/>
          <a:chExt cx="0" cy="0"/>
        </a:xfrm>
      </p:grpSpPr>
      <p:sp>
        <p:nvSpPr>
          <p:cNvPr id="68" name="Google Shape;68;p6"/>
          <p:cNvSpPr txBox="1"/>
          <p:nvPr/>
        </p:nvSpPr>
        <p:spPr>
          <a:xfrm>
            <a:off x="812901" y="812901"/>
            <a:ext cx="731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PART 01 OF 04</a:t>
            </a:r>
            <a:endParaRPr b="0" i="0" sz="1400" u="none" cap="none" strike="noStrike">
              <a:solidFill>
                <a:srgbClr val="000000"/>
              </a:solidFill>
              <a:latin typeface="Arial"/>
              <a:ea typeface="Arial"/>
              <a:cs typeface="Arial"/>
              <a:sym typeface="Arial"/>
            </a:endParaRPr>
          </a:p>
        </p:txBody>
      </p:sp>
      <p:sp>
        <p:nvSpPr>
          <p:cNvPr id="69" name="Google Shape;69;p6"/>
          <p:cNvSpPr txBox="1"/>
          <p:nvPr/>
        </p:nvSpPr>
        <p:spPr>
          <a:xfrm>
            <a:off x="812901" y="1828800"/>
            <a:ext cx="365760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0"/>
              <a:buFont typeface="Arial"/>
              <a:buNone/>
            </a:pPr>
            <a:r>
              <a:rPr b="1" i="0" lang="en-US" sz="11000" u="none" cap="none" strike="noStrike">
                <a:solidFill>
                  <a:srgbClr val="B8392A"/>
                </a:solidFill>
                <a:latin typeface="Georgia"/>
                <a:ea typeface="Georgia"/>
                <a:cs typeface="Georgia"/>
                <a:sym typeface="Georgia"/>
              </a:rPr>
              <a:t>01</a:t>
            </a:r>
            <a:endParaRPr b="0" i="0" sz="1400" u="none" cap="none" strike="noStrike">
              <a:solidFill>
                <a:srgbClr val="000000"/>
              </a:solidFill>
              <a:latin typeface="Arial"/>
              <a:ea typeface="Arial"/>
              <a:cs typeface="Arial"/>
              <a:sym typeface="Arial"/>
            </a:endParaRPr>
          </a:p>
        </p:txBody>
      </p:sp>
      <p:sp>
        <p:nvSpPr>
          <p:cNvPr id="70" name="Google Shape;70;p6"/>
          <p:cNvSpPr txBox="1"/>
          <p:nvPr/>
        </p:nvSpPr>
        <p:spPr>
          <a:xfrm>
            <a:off x="812901" y="3429000"/>
            <a:ext cx="9601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14202F"/>
                </a:solidFill>
                <a:latin typeface="Georgia"/>
                <a:ea typeface="Georgia"/>
                <a:cs typeface="Georgia"/>
                <a:sym typeface="Georgia"/>
              </a:rPr>
              <a:t>Introduction</a:t>
            </a:r>
            <a:endParaRPr b="0" i="0" sz="1400" u="none" cap="none" strike="noStrike">
              <a:solidFill>
                <a:srgbClr val="000000"/>
              </a:solidFill>
              <a:latin typeface="Arial"/>
              <a:ea typeface="Arial"/>
              <a:cs typeface="Arial"/>
              <a:sym typeface="Arial"/>
            </a:endParaRPr>
          </a:p>
        </p:txBody>
      </p:sp>
      <p:sp>
        <p:nvSpPr>
          <p:cNvPr id="71" name="Google Shape;71;p6"/>
          <p:cNvSpPr txBox="1"/>
          <p:nvPr/>
        </p:nvSpPr>
        <p:spPr>
          <a:xfrm>
            <a:off x="812901" y="4343400"/>
            <a:ext cx="96012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3F4B5E"/>
                </a:solidFill>
                <a:latin typeface="Arial"/>
                <a:ea typeface="Arial"/>
                <a:cs typeface="Arial"/>
                <a:sym typeface="Arial"/>
              </a:rPr>
              <a:t>Why critical minerals, and why Latin America</a:t>
            </a:r>
            <a:endParaRPr b="0" i="0" sz="1400" u="none" cap="none" strike="noStrike">
              <a:solidFill>
                <a:srgbClr val="000000"/>
              </a:solidFill>
              <a:latin typeface="Arial"/>
              <a:ea typeface="Arial"/>
              <a:cs typeface="Arial"/>
              <a:sym typeface="Arial"/>
            </a:endParaRPr>
          </a:p>
        </p:txBody>
      </p:sp>
      <p:sp>
        <p:nvSpPr>
          <p:cNvPr id="72" name="Google Shape;72;p6"/>
          <p:cNvSpPr/>
          <p:nvPr/>
        </p:nvSpPr>
        <p:spPr>
          <a:xfrm>
            <a:off x="812901" y="5623560"/>
            <a:ext cx="2370580" cy="54864"/>
          </a:xfrm>
          <a:prstGeom prst="rect">
            <a:avLst/>
          </a:prstGeom>
          <a:solidFill>
            <a:srgbClr val="B8392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
          <p:cNvSpPr txBox="1"/>
          <p:nvPr/>
        </p:nvSpPr>
        <p:spPr>
          <a:xfrm>
            <a:off x="812901"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202F"/>
                </a:solidFill>
                <a:latin typeface="Arial"/>
                <a:ea typeface="Arial"/>
                <a:cs typeface="Arial"/>
                <a:sym typeface="Arial"/>
              </a:rPr>
              <a:t>01  Intro</a:t>
            </a:r>
            <a:endParaRPr b="0" i="0" sz="1400" u="none" cap="none" strike="noStrike">
              <a:solidFill>
                <a:srgbClr val="000000"/>
              </a:solidFill>
              <a:latin typeface="Arial"/>
              <a:ea typeface="Arial"/>
              <a:cs typeface="Arial"/>
              <a:sym typeface="Arial"/>
            </a:endParaRPr>
          </a:p>
        </p:txBody>
      </p:sp>
      <p:sp>
        <p:nvSpPr>
          <p:cNvPr id="74" name="Google Shape;74;p6"/>
          <p:cNvSpPr/>
          <p:nvPr/>
        </p:nvSpPr>
        <p:spPr>
          <a:xfrm>
            <a:off x="3293209" y="5623560"/>
            <a:ext cx="2370580" cy="54864"/>
          </a:xfrm>
          <a:prstGeom prst="rect">
            <a:avLst/>
          </a:prstGeom>
          <a:solidFill>
            <a:srgbClr val="7D88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
          <p:cNvSpPr txBox="1"/>
          <p:nvPr/>
        </p:nvSpPr>
        <p:spPr>
          <a:xfrm>
            <a:off x="3293209"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7D8899"/>
                </a:solidFill>
                <a:latin typeface="Arial"/>
                <a:ea typeface="Arial"/>
                <a:cs typeface="Arial"/>
                <a:sym typeface="Arial"/>
              </a:rPr>
              <a:t>02  Production &amp; sites</a:t>
            </a:r>
            <a:endParaRPr b="0" i="0" sz="1400" u="none" cap="none" strike="noStrike">
              <a:solidFill>
                <a:srgbClr val="000000"/>
              </a:solidFill>
              <a:latin typeface="Arial"/>
              <a:ea typeface="Arial"/>
              <a:cs typeface="Arial"/>
              <a:sym typeface="Arial"/>
            </a:endParaRPr>
          </a:p>
        </p:txBody>
      </p:sp>
      <p:sp>
        <p:nvSpPr>
          <p:cNvPr id="76" name="Google Shape;76;p6"/>
          <p:cNvSpPr/>
          <p:nvPr/>
        </p:nvSpPr>
        <p:spPr>
          <a:xfrm>
            <a:off x="5773517" y="5623560"/>
            <a:ext cx="2370580" cy="54864"/>
          </a:xfrm>
          <a:prstGeom prst="rect">
            <a:avLst/>
          </a:prstGeom>
          <a:solidFill>
            <a:srgbClr val="7D88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6"/>
          <p:cNvSpPr txBox="1"/>
          <p:nvPr/>
        </p:nvSpPr>
        <p:spPr>
          <a:xfrm>
            <a:off x="5773517"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7D8899"/>
                </a:solidFill>
                <a:latin typeface="Arial"/>
                <a:ea typeface="Arial"/>
                <a:cs typeface="Arial"/>
                <a:sym typeface="Arial"/>
              </a:rPr>
              <a:t>03  Conflicts &amp; abuses</a:t>
            </a:r>
            <a:endParaRPr b="0" i="0" sz="1400" u="none" cap="none" strike="noStrike">
              <a:solidFill>
                <a:srgbClr val="000000"/>
              </a:solidFill>
              <a:latin typeface="Arial"/>
              <a:ea typeface="Arial"/>
              <a:cs typeface="Arial"/>
              <a:sym typeface="Arial"/>
            </a:endParaRPr>
          </a:p>
        </p:txBody>
      </p:sp>
      <p:sp>
        <p:nvSpPr>
          <p:cNvPr id="78" name="Google Shape;78;p6"/>
          <p:cNvSpPr/>
          <p:nvPr/>
        </p:nvSpPr>
        <p:spPr>
          <a:xfrm>
            <a:off x="8253825" y="5623560"/>
            <a:ext cx="2370580" cy="54864"/>
          </a:xfrm>
          <a:prstGeom prst="rect">
            <a:avLst/>
          </a:prstGeom>
          <a:solidFill>
            <a:srgbClr val="7D88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txBox="1"/>
          <p:nvPr/>
        </p:nvSpPr>
        <p:spPr>
          <a:xfrm>
            <a:off x="8253825"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7D8899"/>
                </a:solidFill>
                <a:latin typeface="Arial"/>
                <a:ea typeface="Arial"/>
                <a:cs typeface="Arial"/>
                <a:sym typeface="Arial"/>
              </a:rPr>
              <a:t>04  Conclusions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D5E2"/>
        </a:solidFill>
      </p:bgPr>
    </p:bg>
    <p:spTree>
      <p:nvGrpSpPr>
        <p:cNvPr id="84" name="Shape 84"/>
        <p:cNvGrpSpPr/>
        <p:nvPr/>
      </p:nvGrpSpPr>
      <p:grpSpPr>
        <a:xfrm>
          <a:off x="0" y="0"/>
          <a:ext cx="0" cy="0"/>
          <a:chOff x="0" y="0"/>
          <a:chExt cx="0" cy="0"/>
        </a:xfrm>
      </p:grpSpPr>
      <p:sp>
        <p:nvSpPr>
          <p:cNvPr id="85" name="Google Shape;85;p7"/>
          <p:cNvSpPr txBox="1"/>
          <p:nvPr/>
        </p:nvSpPr>
        <p:spPr>
          <a:xfrm>
            <a:off x="6583680" y="1097280"/>
            <a:ext cx="4526400" cy="5682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[Diego: protest photo]</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80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Argentine protest sample — insert photo with credit</a:t>
            </a:r>
            <a:endParaRPr b="0" i="0" sz="1400" u="none" cap="none" strike="noStrike">
              <a:solidFill>
                <a:srgbClr val="000000"/>
              </a:solidFill>
              <a:latin typeface="Arial"/>
              <a:ea typeface="Arial"/>
              <a:cs typeface="Arial"/>
              <a:sym typeface="Arial"/>
            </a:endParaRPr>
          </a:p>
        </p:txBody>
      </p:sp>
      <p:sp>
        <p:nvSpPr>
          <p:cNvPr id="86" name="Google Shape;86;p7"/>
          <p:cNvSpPr txBox="1"/>
          <p:nvPr/>
        </p:nvSpPr>
        <p:spPr>
          <a:xfrm>
            <a:off x="812901" y="812901"/>
            <a:ext cx="51207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INTRO · ONE PROTEST</a:t>
            </a:r>
            <a:endParaRPr b="0" i="0" sz="1400" u="none" cap="none" strike="noStrike">
              <a:solidFill>
                <a:srgbClr val="000000"/>
              </a:solidFill>
              <a:latin typeface="Arial"/>
              <a:ea typeface="Arial"/>
              <a:cs typeface="Arial"/>
              <a:sym typeface="Arial"/>
            </a:endParaRPr>
          </a:p>
        </p:txBody>
      </p:sp>
      <p:sp>
        <p:nvSpPr>
          <p:cNvPr id="87" name="Google Shape;87;p7"/>
          <p:cNvSpPr txBox="1"/>
          <p:nvPr/>
        </p:nvSpPr>
        <p:spPr>
          <a:xfrm>
            <a:off x="812901" y="1371600"/>
            <a:ext cx="5120700" cy="1717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600"/>
              <a:buFont typeface="Arial"/>
              <a:buNone/>
            </a:pPr>
            <a:r>
              <a:rPr b="1" lang="en-US" sz="3600">
                <a:solidFill>
                  <a:srgbClr val="14202F"/>
                </a:solidFill>
                <a:latin typeface="Georgia"/>
                <a:ea typeface="Georgia"/>
                <a:cs typeface="Georgia"/>
                <a:sym typeface="Georgia"/>
              </a:rPr>
              <a:t>Argentina, 2026: “A town rich in mining, poor in education”</a:t>
            </a:r>
            <a:endParaRPr b="0" i="0" sz="1400" u="none" cap="none" strike="noStrike">
              <a:solidFill>
                <a:srgbClr val="000000"/>
              </a:solidFill>
              <a:latin typeface="Arial"/>
              <a:ea typeface="Arial"/>
              <a:cs typeface="Arial"/>
              <a:sym typeface="Arial"/>
            </a:endParaRPr>
          </a:p>
        </p:txBody>
      </p:sp>
      <p:sp>
        <p:nvSpPr>
          <p:cNvPr id="88" name="Google Shape;88;p7"/>
          <p:cNvSpPr txBox="1"/>
          <p:nvPr/>
        </p:nvSpPr>
        <p:spPr>
          <a:xfrm>
            <a:off x="812900" y="3238151"/>
            <a:ext cx="5120700" cy="2970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lang="en-US" sz="1700">
                <a:solidFill>
                  <a:srgbClr val="3F4B5E"/>
                </a:solidFill>
              </a:rPr>
              <a:t>In June, in Antofagasta de la Sierra, Argentina’s Northwest,  a group of parents protested against the low budget allocated to the local primary school’s canteen. </a:t>
            </a:r>
            <a:endParaRPr sz="1700">
              <a:solidFill>
                <a:srgbClr val="3F4B5E"/>
              </a:solidFill>
            </a:endParaRPr>
          </a:p>
          <a:p>
            <a:pPr indent="0" lvl="0" marL="0" rtl="0" algn="l">
              <a:lnSpc>
                <a:spcPct val="115000"/>
              </a:lnSpc>
              <a:spcBef>
                <a:spcPts val="0"/>
              </a:spcBef>
              <a:spcAft>
                <a:spcPts val="0"/>
              </a:spcAft>
              <a:buNone/>
            </a:pPr>
            <a:r>
              <a:t/>
            </a:r>
            <a:endParaRPr sz="1700">
              <a:solidFill>
                <a:srgbClr val="3F4B5E"/>
              </a:solidFill>
            </a:endParaRPr>
          </a:p>
          <a:p>
            <a:pPr indent="0" lvl="0" marL="0" rtl="0" algn="l">
              <a:lnSpc>
                <a:spcPct val="115000"/>
              </a:lnSpc>
              <a:spcBef>
                <a:spcPts val="0"/>
              </a:spcBef>
              <a:spcAft>
                <a:spcPts val="0"/>
              </a:spcAft>
              <a:buNone/>
            </a:pPr>
            <a:r>
              <a:rPr lang="en-US" sz="1700">
                <a:solidFill>
                  <a:srgbClr val="3F4B5E"/>
                </a:solidFill>
              </a:rPr>
              <a:t>In recent years, the town has boomed its production of lithium, a critical mineral for the energy transition</a:t>
            </a:r>
            <a:endParaRPr sz="1700">
              <a:solidFill>
                <a:srgbClr val="3F4B5E"/>
              </a:solidFill>
            </a:endParaRPr>
          </a:p>
          <a:p>
            <a:pPr indent="0" lvl="0" marL="0" rtl="0" algn="l">
              <a:lnSpc>
                <a:spcPct val="115000"/>
              </a:lnSpc>
              <a:spcBef>
                <a:spcPts val="0"/>
              </a:spcBef>
              <a:spcAft>
                <a:spcPts val="0"/>
              </a:spcAft>
              <a:buNone/>
            </a:pPr>
            <a:r>
              <a:t/>
            </a:r>
            <a:endParaRPr sz="1700">
              <a:solidFill>
                <a:srgbClr val="3F4B5E"/>
              </a:solidFill>
            </a:endParaRPr>
          </a:p>
          <a:p>
            <a:pPr indent="0" lvl="0" marL="0" rtl="0" algn="l">
              <a:lnSpc>
                <a:spcPct val="115000"/>
              </a:lnSpc>
              <a:spcBef>
                <a:spcPts val="0"/>
              </a:spcBef>
              <a:spcAft>
                <a:spcPts val="0"/>
              </a:spcAft>
              <a:buNone/>
            </a:pPr>
            <a:r>
              <a:rPr lang="en-US" sz="1700">
                <a:solidFill>
                  <a:srgbClr val="3F4B5E"/>
                </a:solidFill>
              </a:rPr>
              <a:t>What is the context behind?</a:t>
            </a:r>
            <a:endParaRPr sz="1700">
              <a:solidFill>
                <a:srgbClr val="3F4B5E"/>
              </a:solidFill>
            </a:endParaRPr>
          </a:p>
          <a:p>
            <a:pPr indent="0" lvl="0" marL="0" marR="0" rtl="0" algn="l">
              <a:lnSpc>
                <a:spcPct val="115000"/>
              </a:lnSpc>
              <a:spcBef>
                <a:spcPts val="0"/>
              </a:spcBef>
              <a:spcAft>
                <a:spcPts val="0"/>
              </a:spcAft>
              <a:buClr>
                <a:srgbClr val="000000"/>
              </a:buClr>
              <a:buSzPts val="1700"/>
              <a:buFont typeface="Arial"/>
              <a:buNone/>
            </a:pPr>
            <a:r>
              <a:rPr lang="en-US" sz="1700">
                <a:solidFill>
                  <a:srgbClr val="3F4B5E"/>
                </a:solidFill>
              </a:rPr>
              <a:t> </a:t>
            </a:r>
            <a:endParaRPr b="0" i="0" sz="1400" u="none" cap="none" strike="noStrike">
              <a:solidFill>
                <a:srgbClr val="000000"/>
              </a:solidFill>
              <a:latin typeface="Arial"/>
              <a:ea typeface="Arial"/>
              <a:cs typeface="Arial"/>
              <a:sym typeface="Arial"/>
            </a:endParaRPr>
          </a:p>
        </p:txBody>
      </p:sp>
      <p:sp>
        <p:nvSpPr>
          <p:cNvPr id="89" name="Google Shape;89;p7"/>
          <p:cNvSpPr txBox="1"/>
          <p:nvPr/>
        </p:nvSpPr>
        <p:spPr>
          <a:xfrm>
            <a:off x="812901" y="6053328"/>
            <a:ext cx="10566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lang="en-US" sz="1100">
                <a:solidFill>
                  <a:srgbClr val="5A6576"/>
                </a:solidFill>
              </a:rPr>
              <a:t>PPhoto: Pucará Assembly</a:t>
            </a:r>
            <a:endParaRPr b="0" i="0" sz="1400" u="none" cap="none" strike="noStrike">
              <a:solidFill>
                <a:srgbClr val="000000"/>
              </a:solidFill>
              <a:latin typeface="Arial"/>
              <a:ea typeface="Arial"/>
              <a:cs typeface="Arial"/>
              <a:sym typeface="Arial"/>
            </a:endParaRPr>
          </a:p>
        </p:txBody>
      </p:sp>
      <p:pic>
        <p:nvPicPr>
          <p:cNvPr id="90" name="Google Shape;90;p7"/>
          <p:cNvPicPr preferRelativeResize="0"/>
          <p:nvPr/>
        </p:nvPicPr>
        <p:blipFill rotWithShape="1">
          <a:blip r:embed="rId3">
            <a:alphaModFix/>
          </a:blip>
          <a:srcRect b="-11290" l="42220" r="-42220" t="11290"/>
          <a:stretch/>
        </p:blipFill>
        <p:spPr>
          <a:xfrm>
            <a:off x="6309350" y="1485275"/>
            <a:ext cx="9525000" cy="5120650"/>
          </a:xfrm>
          <a:prstGeom prst="rect">
            <a:avLst/>
          </a:prstGeom>
          <a:noFill/>
          <a:ln>
            <a:noFill/>
          </a:ln>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95" name="Shape 95"/>
        <p:cNvGrpSpPr/>
        <p:nvPr/>
      </p:nvGrpSpPr>
      <p:grpSpPr>
        <a:xfrm>
          <a:off x="0" y="0"/>
          <a:ext cx="0" cy="0"/>
          <a:chOff x="0" y="0"/>
          <a:chExt cx="0" cy="0"/>
        </a:xfrm>
      </p:grpSpPr>
      <p:sp>
        <p:nvSpPr>
          <p:cNvPr id="96" name="Google Shape;96;p8"/>
          <p:cNvSpPr txBox="1"/>
          <p:nvPr/>
        </p:nvSpPr>
        <p:spPr>
          <a:xfrm>
            <a:off x="812901" y="812901"/>
            <a:ext cx="10565893" cy="2468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INTRO · WHY CRITICAL MINERALS?</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812901" y="1127455"/>
            <a:ext cx="105660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lang="en-US" sz="3000">
                <a:solidFill>
                  <a:srgbClr val="14202F"/>
                </a:solidFill>
                <a:latin typeface="Georgia"/>
                <a:ea typeface="Georgia"/>
                <a:cs typeface="Georgia"/>
                <a:sym typeface="Georgia"/>
              </a:rPr>
              <a:t>Will rising demand for critical minerals will increase production?</a:t>
            </a:r>
            <a:endParaRPr b="0" i="0" sz="1400" u="none" cap="none" strike="noStrike">
              <a:solidFill>
                <a:srgbClr val="000000"/>
              </a:solidFill>
              <a:latin typeface="Arial"/>
              <a:ea typeface="Arial"/>
              <a:cs typeface="Arial"/>
              <a:sym typeface="Arial"/>
            </a:endParaRPr>
          </a:p>
        </p:txBody>
      </p:sp>
      <p:pic>
        <p:nvPicPr>
          <p:cNvPr descr="c_demand.png" id="98" name="Google Shape;98;p8"/>
          <p:cNvPicPr preferRelativeResize="0"/>
          <p:nvPr/>
        </p:nvPicPr>
        <p:blipFill rotWithShape="1">
          <a:blip r:embed="rId3">
            <a:alphaModFix/>
          </a:blip>
          <a:srcRect b="0" l="0" r="0" t="0"/>
          <a:stretch/>
        </p:blipFill>
        <p:spPr>
          <a:xfrm>
            <a:off x="812901" y="2697480"/>
            <a:ext cx="6766560" cy="3154680"/>
          </a:xfrm>
          <a:prstGeom prst="rect">
            <a:avLst/>
          </a:prstGeom>
          <a:noFill/>
          <a:ln>
            <a:noFill/>
          </a:ln>
        </p:spPr>
      </p:pic>
      <p:sp>
        <p:nvSpPr>
          <p:cNvPr id="99" name="Google Shape;99;p8"/>
          <p:cNvSpPr txBox="1"/>
          <p:nvPr/>
        </p:nvSpPr>
        <p:spPr>
          <a:xfrm>
            <a:off x="812901" y="2286000"/>
            <a:ext cx="6766560"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Demand from clean-energy technologies, 2040 as a multiple of 2025</a:t>
            </a:r>
            <a:endParaRPr b="0" i="0" sz="1400" u="none" cap="none" strike="noStrike">
              <a:solidFill>
                <a:srgbClr val="000000"/>
              </a:solidFill>
              <a:latin typeface="Arial"/>
              <a:ea typeface="Arial"/>
              <a:cs typeface="Arial"/>
              <a:sym typeface="Arial"/>
            </a:endParaRPr>
          </a:p>
        </p:txBody>
      </p:sp>
      <p:sp>
        <p:nvSpPr>
          <p:cNvPr id="100" name="Google Shape;100;p8"/>
          <p:cNvSpPr/>
          <p:nvPr/>
        </p:nvSpPr>
        <p:spPr>
          <a:xfrm>
            <a:off x="8036661" y="2194560"/>
            <a:ext cx="3342133" cy="356616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8"/>
          <p:cNvSpPr txBox="1"/>
          <p:nvPr/>
        </p:nvSpPr>
        <p:spPr>
          <a:xfrm>
            <a:off x="8402421" y="2377440"/>
            <a:ext cx="2610614"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6600"/>
              <a:buFont typeface="Arial"/>
              <a:buNone/>
            </a:pPr>
            <a:r>
              <a:rPr b="1" i="0" lang="en-US" sz="6600" u="none" cap="none" strike="noStrike">
                <a:solidFill>
                  <a:srgbClr val="B8392A"/>
                </a:solidFill>
                <a:latin typeface="Georgia"/>
                <a:ea typeface="Georgia"/>
                <a:cs typeface="Georgia"/>
                <a:sym typeface="Georgia"/>
              </a:rPr>
              <a:t>×4</a:t>
            </a:r>
            <a:endParaRPr b="0" i="0" sz="1400" u="none" cap="none" strike="noStrike">
              <a:solidFill>
                <a:srgbClr val="000000"/>
              </a:solidFill>
              <a:latin typeface="Arial"/>
              <a:ea typeface="Arial"/>
              <a:cs typeface="Arial"/>
              <a:sym typeface="Arial"/>
            </a:endParaRPr>
          </a:p>
        </p:txBody>
      </p:sp>
      <p:sp>
        <p:nvSpPr>
          <p:cNvPr id="102" name="Google Shape;102;p8"/>
          <p:cNvSpPr txBox="1"/>
          <p:nvPr/>
        </p:nvSpPr>
        <p:spPr>
          <a:xfrm>
            <a:off x="8402421" y="3611880"/>
            <a:ext cx="2610614" cy="10972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14202F"/>
                </a:solidFill>
                <a:latin typeface="Arial"/>
                <a:ea typeface="Arial"/>
                <a:cs typeface="Arial"/>
                <a:sym typeface="Arial"/>
              </a:rPr>
              <a:t>lithium demand for EVs, batteries and power grids: 203 kt in 2025, 836 kt in 2040</a:t>
            </a:r>
            <a:endParaRPr b="0" i="0" sz="1400" u="none" cap="none" strike="noStrike">
              <a:solidFill>
                <a:srgbClr val="000000"/>
              </a:solidFill>
              <a:latin typeface="Arial"/>
              <a:ea typeface="Arial"/>
              <a:cs typeface="Arial"/>
              <a:sym typeface="Arial"/>
            </a:endParaRPr>
          </a:p>
        </p:txBody>
      </p:sp>
      <p:sp>
        <p:nvSpPr>
          <p:cNvPr id="103" name="Google Shape;103;p8"/>
          <p:cNvSpPr txBox="1"/>
          <p:nvPr/>
        </p:nvSpPr>
        <p:spPr>
          <a:xfrm>
            <a:off x="8402421" y="4754880"/>
            <a:ext cx="2610614" cy="8229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5F6B7C"/>
                </a:solidFill>
                <a:latin typeface="Arial"/>
                <a:ea typeface="Arial"/>
                <a:cs typeface="Arial"/>
                <a:sym typeface="Arial"/>
              </a:rPr>
              <a:t>Copper +63 %: 8.0 Mt → 13.1 Mt. Nickel 625 kt → 2.4 Mt.</a:t>
            </a:r>
            <a:endParaRPr b="0" i="0" sz="1400" u="none" cap="none" strike="noStrike">
              <a:solidFill>
                <a:srgbClr val="000000"/>
              </a:solidFill>
              <a:latin typeface="Arial"/>
              <a:ea typeface="Arial"/>
              <a:cs typeface="Arial"/>
              <a:sym typeface="Arial"/>
            </a:endParaRPr>
          </a:p>
        </p:txBody>
      </p:sp>
      <p:sp>
        <p:nvSpPr>
          <p:cNvPr id="104" name="Google Shape;104;p8"/>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IEA Global Critical Minerals Outlook 2026, Stated Policies scenario, demand from all energy technologies (world).</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109" name="Shape 109"/>
        <p:cNvGrpSpPr/>
        <p:nvPr/>
      </p:nvGrpSpPr>
      <p:grpSpPr>
        <a:xfrm>
          <a:off x="0" y="0"/>
          <a:ext cx="0" cy="0"/>
          <a:chOff x="0" y="0"/>
          <a:chExt cx="0" cy="0"/>
        </a:xfrm>
      </p:grpSpPr>
      <p:sp>
        <p:nvSpPr>
          <p:cNvPr id="110" name="Google Shape;110;p9"/>
          <p:cNvSpPr txBox="1"/>
          <p:nvPr/>
        </p:nvSpPr>
        <p:spPr>
          <a:xfrm>
            <a:off x="812901" y="405926"/>
            <a:ext cx="105660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INTRO · GLOBAL OUTLOOK</a:t>
            </a:r>
            <a:endParaRPr b="0" i="0" sz="1400" u="none" cap="none" strike="noStrike">
              <a:solidFill>
                <a:srgbClr val="000000"/>
              </a:solidFill>
              <a:latin typeface="Arial"/>
              <a:ea typeface="Arial"/>
              <a:cs typeface="Arial"/>
              <a:sym typeface="Arial"/>
            </a:endParaRPr>
          </a:p>
        </p:txBody>
      </p:sp>
      <p:sp>
        <p:nvSpPr>
          <p:cNvPr id="111" name="Google Shape;111;p9"/>
          <p:cNvSpPr txBox="1"/>
          <p:nvPr/>
        </p:nvSpPr>
        <p:spPr>
          <a:xfrm>
            <a:off x="812901" y="780780"/>
            <a:ext cx="105660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Latin America is a major supplier of copper and lithium</a:t>
            </a:r>
            <a:endParaRPr b="0" i="0" sz="1400" u="none" cap="none" strike="noStrike">
              <a:solidFill>
                <a:srgbClr val="000000"/>
              </a:solidFill>
              <a:latin typeface="Arial"/>
              <a:ea typeface="Arial"/>
              <a:cs typeface="Arial"/>
              <a:sym typeface="Arial"/>
            </a:endParaRPr>
          </a:p>
        </p:txBody>
      </p:sp>
      <p:pic>
        <p:nvPicPr>
          <p:cNvPr descr="c_outlook.png" id="112" name="Google Shape;112;p9"/>
          <p:cNvPicPr preferRelativeResize="0"/>
          <p:nvPr/>
        </p:nvPicPr>
        <p:blipFill rotWithShape="1">
          <a:blip r:embed="rId3">
            <a:alphaModFix/>
          </a:blip>
          <a:srcRect b="0" l="0" r="0" t="0"/>
          <a:stretch/>
        </p:blipFill>
        <p:spPr>
          <a:xfrm>
            <a:off x="601875" y="1945363"/>
            <a:ext cx="11379101" cy="3889862"/>
          </a:xfrm>
          <a:prstGeom prst="rect">
            <a:avLst/>
          </a:prstGeom>
          <a:noFill/>
          <a:ln>
            <a:noFill/>
          </a:ln>
        </p:spPr>
      </p:pic>
      <p:sp>
        <p:nvSpPr>
          <p:cNvPr id="113" name="Google Shape;113;p9"/>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Share of world mining output 2025, %. IEA Critical Minerals Data Explorer 2026, base case; gold: USGS Mineral Commodity Summaries 2026 (2025 estimate). Latin America = Argentina, Brazil, Chile, Peru (IEA) + Mexico for gold; IEA does not report Mexico separately.</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D5E2"/>
        </a:solidFill>
      </p:bgPr>
    </p:bg>
    <p:spTree>
      <p:nvGrpSpPr>
        <p:cNvPr id="118" name="Shape 118"/>
        <p:cNvGrpSpPr/>
        <p:nvPr/>
      </p:nvGrpSpPr>
      <p:grpSpPr>
        <a:xfrm>
          <a:off x="0" y="0"/>
          <a:ext cx="0" cy="0"/>
          <a:chOff x="0" y="0"/>
          <a:chExt cx="0" cy="0"/>
        </a:xfrm>
      </p:grpSpPr>
      <p:sp>
        <p:nvSpPr>
          <p:cNvPr id="119" name="Google Shape;119;p10"/>
          <p:cNvSpPr txBox="1"/>
          <p:nvPr/>
        </p:nvSpPr>
        <p:spPr>
          <a:xfrm>
            <a:off x="812901" y="812901"/>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PART 02 OF 04</a:t>
            </a:r>
            <a:endParaRPr b="0" i="0" sz="1400" u="none" cap="none" strike="noStrike">
              <a:solidFill>
                <a:srgbClr val="000000"/>
              </a:solidFill>
              <a:latin typeface="Arial"/>
              <a:ea typeface="Arial"/>
              <a:cs typeface="Arial"/>
              <a:sym typeface="Arial"/>
            </a:endParaRPr>
          </a:p>
        </p:txBody>
      </p:sp>
      <p:sp>
        <p:nvSpPr>
          <p:cNvPr id="120" name="Google Shape;120;p10"/>
          <p:cNvSpPr txBox="1"/>
          <p:nvPr/>
        </p:nvSpPr>
        <p:spPr>
          <a:xfrm>
            <a:off x="812901" y="1828800"/>
            <a:ext cx="365760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0"/>
              <a:buFont typeface="Arial"/>
              <a:buNone/>
            </a:pPr>
            <a:r>
              <a:rPr b="1" i="0" lang="en-US" sz="11000" u="none" cap="none" strike="noStrike">
                <a:solidFill>
                  <a:srgbClr val="B8392A"/>
                </a:solidFill>
                <a:latin typeface="Georgia"/>
                <a:ea typeface="Georgia"/>
                <a:cs typeface="Georgia"/>
                <a:sym typeface="Georgia"/>
              </a:rPr>
              <a:t>02</a:t>
            </a:r>
            <a:endParaRPr b="0" i="0" sz="1400" u="none" cap="none" strike="noStrike">
              <a:solidFill>
                <a:srgbClr val="000000"/>
              </a:solidFill>
              <a:latin typeface="Arial"/>
              <a:ea typeface="Arial"/>
              <a:cs typeface="Arial"/>
              <a:sym typeface="Arial"/>
            </a:endParaRPr>
          </a:p>
        </p:txBody>
      </p:sp>
      <p:sp>
        <p:nvSpPr>
          <p:cNvPr id="121" name="Google Shape;121;p10"/>
          <p:cNvSpPr txBox="1"/>
          <p:nvPr/>
        </p:nvSpPr>
        <p:spPr>
          <a:xfrm>
            <a:off x="812901" y="3429000"/>
            <a:ext cx="96012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14202F"/>
                </a:solidFill>
                <a:latin typeface="Georgia"/>
                <a:ea typeface="Georgia"/>
                <a:cs typeface="Georgia"/>
                <a:sym typeface="Georgia"/>
              </a:rPr>
              <a:t>Production &amp; sites</a:t>
            </a:r>
            <a:endParaRPr b="0" i="0" sz="1400" u="none" cap="none" strike="noStrike">
              <a:solidFill>
                <a:srgbClr val="000000"/>
              </a:solidFill>
              <a:latin typeface="Arial"/>
              <a:ea typeface="Arial"/>
              <a:cs typeface="Arial"/>
              <a:sym typeface="Arial"/>
            </a:endParaRPr>
          </a:p>
        </p:txBody>
      </p:sp>
      <p:sp>
        <p:nvSpPr>
          <p:cNvPr id="122" name="Google Shape;122;p10"/>
          <p:cNvSpPr txBox="1"/>
          <p:nvPr/>
        </p:nvSpPr>
        <p:spPr>
          <a:xfrm>
            <a:off x="812901" y="4343400"/>
            <a:ext cx="96012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3F4B5E"/>
                </a:solidFill>
                <a:latin typeface="Arial"/>
                <a:ea typeface="Arial"/>
                <a:cs typeface="Arial"/>
                <a:sym typeface="Arial"/>
              </a:rPr>
              <a:t>Who produces what, and where the mining sites are</a:t>
            </a:r>
            <a:endParaRPr b="0" i="0" sz="1400" u="none" cap="none" strike="noStrike">
              <a:solidFill>
                <a:srgbClr val="000000"/>
              </a:solidFill>
              <a:latin typeface="Arial"/>
              <a:ea typeface="Arial"/>
              <a:cs typeface="Arial"/>
              <a:sym typeface="Arial"/>
            </a:endParaRPr>
          </a:p>
        </p:txBody>
      </p:sp>
      <p:sp>
        <p:nvSpPr>
          <p:cNvPr id="123" name="Google Shape;123;p10"/>
          <p:cNvSpPr/>
          <p:nvPr/>
        </p:nvSpPr>
        <p:spPr>
          <a:xfrm>
            <a:off x="812901" y="5623560"/>
            <a:ext cx="2370580" cy="54864"/>
          </a:xfrm>
          <a:prstGeom prst="rect">
            <a:avLst/>
          </a:prstGeom>
          <a:solidFill>
            <a:srgbClr val="3F4B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0"/>
          <p:cNvSpPr txBox="1"/>
          <p:nvPr/>
        </p:nvSpPr>
        <p:spPr>
          <a:xfrm>
            <a:off x="812901"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F4B5E"/>
                </a:solidFill>
                <a:latin typeface="Arial"/>
                <a:ea typeface="Arial"/>
                <a:cs typeface="Arial"/>
                <a:sym typeface="Arial"/>
              </a:rPr>
              <a:t>01  Intro</a:t>
            </a:r>
            <a:endParaRPr b="0" i="0" sz="1400" u="none" cap="none" strike="noStrike">
              <a:solidFill>
                <a:srgbClr val="000000"/>
              </a:solidFill>
              <a:latin typeface="Arial"/>
              <a:ea typeface="Arial"/>
              <a:cs typeface="Arial"/>
              <a:sym typeface="Arial"/>
            </a:endParaRPr>
          </a:p>
        </p:txBody>
      </p:sp>
      <p:sp>
        <p:nvSpPr>
          <p:cNvPr id="125" name="Google Shape;125;p10"/>
          <p:cNvSpPr/>
          <p:nvPr/>
        </p:nvSpPr>
        <p:spPr>
          <a:xfrm>
            <a:off x="3293209" y="5623560"/>
            <a:ext cx="2370580" cy="54864"/>
          </a:xfrm>
          <a:prstGeom prst="rect">
            <a:avLst/>
          </a:prstGeom>
          <a:solidFill>
            <a:srgbClr val="B8392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0"/>
          <p:cNvSpPr txBox="1"/>
          <p:nvPr/>
        </p:nvSpPr>
        <p:spPr>
          <a:xfrm>
            <a:off x="3293209"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202F"/>
                </a:solidFill>
                <a:latin typeface="Arial"/>
                <a:ea typeface="Arial"/>
                <a:cs typeface="Arial"/>
                <a:sym typeface="Arial"/>
              </a:rPr>
              <a:t>02  Production &amp; sites</a:t>
            </a:r>
            <a:endParaRPr b="0" i="0" sz="1400" u="none" cap="none" strike="noStrike">
              <a:solidFill>
                <a:srgbClr val="000000"/>
              </a:solidFill>
              <a:latin typeface="Arial"/>
              <a:ea typeface="Arial"/>
              <a:cs typeface="Arial"/>
              <a:sym typeface="Arial"/>
            </a:endParaRPr>
          </a:p>
        </p:txBody>
      </p:sp>
      <p:sp>
        <p:nvSpPr>
          <p:cNvPr id="127" name="Google Shape;127;p10"/>
          <p:cNvSpPr/>
          <p:nvPr/>
        </p:nvSpPr>
        <p:spPr>
          <a:xfrm>
            <a:off x="5773517" y="5623560"/>
            <a:ext cx="2370580" cy="54864"/>
          </a:xfrm>
          <a:prstGeom prst="rect">
            <a:avLst/>
          </a:prstGeom>
          <a:solidFill>
            <a:srgbClr val="7D88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0"/>
          <p:cNvSpPr txBox="1"/>
          <p:nvPr/>
        </p:nvSpPr>
        <p:spPr>
          <a:xfrm>
            <a:off x="5773517"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7D8899"/>
                </a:solidFill>
                <a:latin typeface="Arial"/>
                <a:ea typeface="Arial"/>
                <a:cs typeface="Arial"/>
                <a:sym typeface="Arial"/>
              </a:rPr>
              <a:t>03  Conflicts &amp; abuses</a:t>
            </a:r>
            <a:endParaRPr b="0" i="0" sz="1400" u="none" cap="none" strike="noStrike">
              <a:solidFill>
                <a:srgbClr val="000000"/>
              </a:solidFill>
              <a:latin typeface="Arial"/>
              <a:ea typeface="Arial"/>
              <a:cs typeface="Arial"/>
              <a:sym typeface="Arial"/>
            </a:endParaRPr>
          </a:p>
        </p:txBody>
      </p:sp>
      <p:sp>
        <p:nvSpPr>
          <p:cNvPr id="129" name="Google Shape;129;p10"/>
          <p:cNvSpPr/>
          <p:nvPr/>
        </p:nvSpPr>
        <p:spPr>
          <a:xfrm>
            <a:off x="8253825" y="5623560"/>
            <a:ext cx="2370580" cy="54864"/>
          </a:xfrm>
          <a:prstGeom prst="rect">
            <a:avLst/>
          </a:prstGeom>
          <a:solidFill>
            <a:srgbClr val="7D88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0"/>
          <p:cNvSpPr txBox="1"/>
          <p:nvPr/>
        </p:nvSpPr>
        <p:spPr>
          <a:xfrm>
            <a:off x="8253825"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7D8899"/>
                </a:solidFill>
                <a:latin typeface="Arial"/>
                <a:ea typeface="Arial"/>
                <a:cs typeface="Arial"/>
                <a:sym typeface="Arial"/>
              </a:rPr>
              <a:t>04  Conclusions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135" name="Shape 135"/>
        <p:cNvGrpSpPr/>
        <p:nvPr/>
      </p:nvGrpSpPr>
      <p:grpSpPr>
        <a:xfrm>
          <a:off x="0" y="0"/>
          <a:ext cx="0" cy="0"/>
          <a:chOff x="0" y="0"/>
          <a:chExt cx="0" cy="0"/>
        </a:xfrm>
      </p:grpSpPr>
      <p:pic>
        <p:nvPicPr>
          <p:cNvPr descr="m2_base.png" id="136" name="Google Shape;136;p11"/>
          <p:cNvPicPr preferRelativeResize="0"/>
          <p:nvPr/>
        </p:nvPicPr>
        <p:blipFill rotWithShape="1">
          <a:blip r:embed="rId3">
            <a:alphaModFix/>
          </a:blip>
          <a:srcRect b="0" l="0" r="0" t="0"/>
          <a:stretch/>
        </p:blipFill>
        <p:spPr>
          <a:xfrm>
            <a:off x="7223760" y="0"/>
            <a:ext cx="4965192" cy="6858000"/>
          </a:xfrm>
          <a:prstGeom prst="rect">
            <a:avLst/>
          </a:prstGeom>
          <a:noFill/>
          <a:ln>
            <a:noFill/>
          </a:ln>
        </p:spPr>
      </p:pic>
      <p:sp>
        <p:nvSpPr>
          <p:cNvPr id="137" name="Google Shape;137;p11"/>
          <p:cNvSpPr txBox="1"/>
          <p:nvPr/>
        </p:nvSpPr>
        <p:spPr>
          <a:xfrm>
            <a:off x="812901" y="812901"/>
            <a:ext cx="603504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PRODUCTION &amp; SITES · WHERE THE MINES ARE</a:t>
            </a:r>
            <a:endParaRPr b="0" i="0" sz="1400" u="none" cap="none" strike="noStrike">
              <a:solidFill>
                <a:srgbClr val="000000"/>
              </a:solidFill>
              <a:latin typeface="Arial"/>
              <a:ea typeface="Arial"/>
              <a:cs typeface="Arial"/>
              <a:sym typeface="Arial"/>
            </a:endParaRPr>
          </a:p>
        </p:txBody>
      </p:sp>
      <p:sp>
        <p:nvSpPr>
          <p:cNvPr id="138" name="Google Shape;138;p11"/>
          <p:cNvSpPr txBox="1"/>
          <p:nvPr/>
        </p:nvSpPr>
        <p:spPr>
          <a:xfrm>
            <a:off x="812901" y="1124712"/>
            <a:ext cx="60351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Mining sites in our four countries</a:t>
            </a:r>
            <a:endParaRPr b="0" i="0" sz="1400" u="none" cap="none" strike="noStrike">
              <a:solidFill>
                <a:srgbClr val="000000"/>
              </a:solidFill>
              <a:latin typeface="Arial"/>
              <a:ea typeface="Arial"/>
              <a:cs typeface="Arial"/>
              <a:sym typeface="Arial"/>
            </a:endParaRPr>
          </a:p>
        </p:txBody>
      </p:sp>
      <p:pic>
        <p:nvPicPr>
          <p:cNvPr descr="m2_chile.png" id="139" name="Google Shape;139;p11"/>
          <p:cNvPicPr preferRelativeResize="0"/>
          <p:nvPr/>
        </p:nvPicPr>
        <p:blipFill rotWithShape="1">
          <a:blip r:embed="rId4">
            <a:alphaModFix/>
          </a:blip>
          <a:srcRect b="0" l="0" r="0" t="0"/>
          <a:stretch/>
        </p:blipFill>
        <p:spPr>
          <a:xfrm>
            <a:off x="7223760" y="0"/>
            <a:ext cx="4965192" cy="6858000"/>
          </a:xfrm>
          <a:prstGeom prst="rect">
            <a:avLst/>
          </a:prstGeom>
          <a:noFill/>
          <a:ln>
            <a:noFill/>
          </a:ln>
        </p:spPr>
      </p:pic>
      <p:sp>
        <p:nvSpPr>
          <p:cNvPr id="140" name="Google Shape;140;p11"/>
          <p:cNvSpPr txBox="1"/>
          <p:nvPr/>
        </p:nvSpPr>
        <p:spPr>
          <a:xfrm>
            <a:off x="812901" y="2240280"/>
            <a:ext cx="6035100" cy="4911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Chile</a:t>
            </a:r>
            <a:r>
              <a:rPr b="1" i="0" lang="en-US" sz="1600" u="none" cap="none" strike="noStrike">
                <a:solidFill>
                  <a:srgbClr val="B8392A"/>
                </a:solidFill>
                <a:latin typeface="Arial"/>
                <a:ea typeface="Arial"/>
                <a:cs typeface="Arial"/>
                <a:sym typeface="Arial"/>
              </a:rPr>
              <a:t>   102 sites</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The copper belt of the north:  copper and  gold</a:t>
            </a:r>
            <a:endParaRPr b="0" i="0" sz="1400" u="none" cap="none" strike="noStrike">
              <a:solidFill>
                <a:srgbClr val="000000"/>
              </a:solidFill>
              <a:latin typeface="Arial"/>
              <a:ea typeface="Arial"/>
              <a:cs typeface="Arial"/>
              <a:sym typeface="Arial"/>
            </a:endParaRPr>
          </a:p>
        </p:txBody>
      </p:sp>
      <p:pic>
        <p:nvPicPr>
          <p:cNvPr descr="m2_peru.png" id="141" name="Google Shape;141;p11"/>
          <p:cNvPicPr preferRelativeResize="0"/>
          <p:nvPr/>
        </p:nvPicPr>
        <p:blipFill rotWithShape="1">
          <a:blip r:embed="rId5">
            <a:alphaModFix/>
          </a:blip>
          <a:srcRect b="0" l="0" r="0" t="0"/>
          <a:stretch/>
        </p:blipFill>
        <p:spPr>
          <a:xfrm>
            <a:off x="7223760" y="0"/>
            <a:ext cx="4965192" cy="6858000"/>
          </a:xfrm>
          <a:prstGeom prst="rect">
            <a:avLst/>
          </a:prstGeom>
          <a:noFill/>
          <a:ln>
            <a:noFill/>
          </a:ln>
        </p:spPr>
      </p:pic>
      <p:sp>
        <p:nvSpPr>
          <p:cNvPr id="142" name="Google Shape;142;p11"/>
          <p:cNvSpPr txBox="1"/>
          <p:nvPr/>
        </p:nvSpPr>
        <p:spPr>
          <a:xfrm>
            <a:off x="812901" y="3026664"/>
            <a:ext cx="6035040" cy="685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Peru</a:t>
            </a:r>
            <a:r>
              <a:rPr b="1" i="0" lang="en-US" sz="1600" u="none" cap="none" strike="noStrike">
                <a:solidFill>
                  <a:srgbClr val="B8392A"/>
                </a:solidFill>
                <a:latin typeface="Arial"/>
                <a:ea typeface="Arial"/>
                <a:cs typeface="Arial"/>
                <a:sym typeface="Arial"/>
              </a:rPr>
              <a:t>   129 sites</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Silver, gold, copper and zinc along the Andes</a:t>
            </a:r>
            <a:endParaRPr b="0" i="0" sz="1400" u="none" cap="none" strike="noStrike">
              <a:solidFill>
                <a:srgbClr val="000000"/>
              </a:solidFill>
              <a:latin typeface="Arial"/>
              <a:ea typeface="Arial"/>
              <a:cs typeface="Arial"/>
              <a:sym typeface="Arial"/>
            </a:endParaRPr>
          </a:p>
        </p:txBody>
      </p:sp>
      <p:pic>
        <p:nvPicPr>
          <p:cNvPr descr="m2_argentina.png" id="143" name="Google Shape;143;p11"/>
          <p:cNvPicPr preferRelativeResize="0"/>
          <p:nvPr/>
        </p:nvPicPr>
        <p:blipFill rotWithShape="1">
          <a:blip r:embed="rId6">
            <a:alphaModFix/>
          </a:blip>
          <a:srcRect b="0" l="0" r="0" t="0"/>
          <a:stretch/>
        </p:blipFill>
        <p:spPr>
          <a:xfrm>
            <a:off x="7223760" y="0"/>
            <a:ext cx="4965192" cy="6858000"/>
          </a:xfrm>
          <a:prstGeom prst="rect">
            <a:avLst/>
          </a:prstGeom>
          <a:noFill/>
          <a:ln>
            <a:noFill/>
          </a:ln>
        </p:spPr>
      </p:pic>
      <p:sp>
        <p:nvSpPr>
          <p:cNvPr id="144" name="Google Shape;144;p11"/>
          <p:cNvSpPr txBox="1"/>
          <p:nvPr/>
        </p:nvSpPr>
        <p:spPr>
          <a:xfrm>
            <a:off x="812901" y="3813048"/>
            <a:ext cx="6035040" cy="685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Argentina</a:t>
            </a:r>
            <a:r>
              <a:rPr b="1" i="0" lang="en-US" sz="1600" u="none" cap="none" strike="noStrike">
                <a:solidFill>
                  <a:srgbClr val="B8392A"/>
                </a:solidFill>
                <a:latin typeface="Arial"/>
                <a:ea typeface="Arial"/>
                <a:cs typeface="Arial"/>
                <a:sym typeface="Arial"/>
              </a:rPr>
              <a:t>   29 sites</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Gold in Patagonia and San Juan, lithium in the north-west</a:t>
            </a:r>
            <a:endParaRPr b="0" i="0" sz="1400" u="none" cap="none" strike="noStrike">
              <a:solidFill>
                <a:srgbClr val="000000"/>
              </a:solidFill>
              <a:latin typeface="Arial"/>
              <a:ea typeface="Arial"/>
              <a:cs typeface="Arial"/>
              <a:sym typeface="Arial"/>
            </a:endParaRPr>
          </a:p>
        </p:txBody>
      </p:sp>
      <p:pic>
        <p:nvPicPr>
          <p:cNvPr descr="m2_brazil.png" id="145" name="Google Shape;145;p11"/>
          <p:cNvPicPr preferRelativeResize="0"/>
          <p:nvPr/>
        </p:nvPicPr>
        <p:blipFill rotWithShape="1">
          <a:blip r:embed="rId7">
            <a:alphaModFix/>
          </a:blip>
          <a:srcRect b="0" l="0" r="0" t="0"/>
          <a:stretch/>
        </p:blipFill>
        <p:spPr>
          <a:xfrm>
            <a:off x="7223760" y="0"/>
            <a:ext cx="4965192" cy="6858000"/>
          </a:xfrm>
          <a:prstGeom prst="rect">
            <a:avLst/>
          </a:prstGeom>
          <a:noFill/>
          <a:ln>
            <a:noFill/>
          </a:ln>
        </p:spPr>
      </p:pic>
      <p:sp>
        <p:nvSpPr>
          <p:cNvPr id="146" name="Google Shape;146;p11"/>
          <p:cNvSpPr txBox="1"/>
          <p:nvPr/>
        </p:nvSpPr>
        <p:spPr>
          <a:xfrm>
            <a:off x="812901" y="4599432"/>
            <a:ext cx="6035040" cy="685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Brazil</a:t>
            </a:r>
            <a:r>
              <a:rPr b="1" i="0" lang="en-US" sz="1600" u="none" cap="none" strike="noStrike">
                <a:solidFill>
                  <a:srgbClr val="B8392A"/>
                </a:solidFill>
                <a:latin typeface="Arial"/>
                <a:ea typeface="Arial"/>
                <a:cs typeface="Arial"/>
                <a:sym typeface="Arial"/>
              </a:rPr>
              <a:t>   196 sites</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300"/>
              <a:buFont typeface="Arial"/>
              <a:buNone/>
            </a:pPr>
            <a:r>
              <a:rPr b="0" i="0" lang="en-US" sz="1300" u="none" cap="none" strike="noStrike">
                <a:solidFill>
                  <a:srgbClr val="3F4B5E"/>
                </a:solidFill>
                <a:latin typeface="Arial"/>
                <a:ea typeface="Arial"/>
                <a:cs typeface="Arial"/>
                <a:sym typeface="Arial"/>
              </a:rPr>
              <a:t>Iron ore, gold and steel, spread across the country</a:t>
            </a:r>
            <a:endParaRPr b="0" i="0" sz="1400" u="none" cap="none" strike="noStrike">
              <a:solidFill>
                <a:srgbClr val="000000"/>
              </a:solidFill>
              <a:latin typeface="Arial"/>
              <a:ea typeface="Arial"/>
              <a:cs typeface="Arial"/>
              <a:sym typeface="Arial"/>
            </a:endParaRPr>
          </a:p>
        </p:txBody>
      </p:sp>
      <p:sp>
        <p:nvSpPr>
          <p:cNvPr id="147" name="Google Shape;147;p11"/>
          <p:cNvSpPr/>
          <p:nvPr/>
        </p:nvSpPr>
        <p:spPr>
          <a:xfrm>
            <a:off x="812901" y="5532120"/>
            <a:ext cx="155448" cy="155448"/>
          </a:xfrm>
          <a:prstGeom prst="ellipse">
            <a:avLst/>
          </a:prstGeom>
          <a:solidFill>
            <a:srgbClr val="1F6FD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1"/>
          <p:cNvSpPr txBox="1"/>
          <p:nvPr/>
        </p:nvSpPr>
        <p:spPr>
          <a:xfrm>
            <a:off x="1041501" y="5486400"/>
            <a:ext cx="237744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200"/>
              <a:buFont typeface="Arial"/>
              <a:buNone/>
            </a:pPr>
            <a:r>
              <a:rPr b="0" i="0" lang="en-US" sz="1200" u="none" cap="none" strike="noStrike">
                <a:solidFill>
                  <a:srgbClr val="3F4B5E"/>
                </a:solidFill>
                <a:latin typeface="Arial"/>
                <a:ea typeface="Arial"/>
                <a:cs typeface="Arial"/>
                <a:sym typeface="Arial"/>
              </a:rPr>
              <a:t>Critical minerals</a:t>
            </a:r>
            <a:endParaRPr b="0" i="0" sz="1400" u="none" cap="none" strike="noStrike">
              <a:solidFill>
                <a:srgbClr val="000000"/>
              </a:solidFill>
              <a:latin typeface="Arial"/>
              <a:ea typeface="Arial"/>
              <a:cs typeface="Arial"/>
              <a:sym typeface="Arial"/>
            </a:endParaRPr>
          </a:p>
        </p:txBody>
      </p:sp>
      <p:sp>
        <p:nvSpPr>
          <p:cNvPr id="149" name="Google Shape;149;p11"/>
          <p:cNvSpPr/>
          <p:nvPr/>
        </p:nvSpPr>
        <p:spPr>
          <a:xfrm>
            <a:off x="2687421" y="5532120"/>
            <a:ext cx="155448" cy="155448"/>
          </a:xfrm>
          <a:prstGeom prst="ellipse">
            <a:avLst/>
          </a:prstGeom>
          <a:solidFill>
            <a:srgbClr val="E0A000"/>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1"/>
          <p:cNvSpPr txBox="1"/>
          <p:nvPr/>
        </p:nvSpPr>
        <p:spPr>
          <a:xfrm>
            <a:off x="2916021" y="5486400"/>
            <a:ext cx="237744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200"/>
              <a:buFont typeface="Arial"/>
              <a:buNone/>
            </a:pPr>
            <a:r>
              <a:rPr b="0" i="0" lang="en-US" sz="1200" u="none" cap="none" strike="noStrike">
                <a:solidFill>
                  <a:srgbClr val="3F4B5E"/>
                </a:solidFill>
                <a:latin typeface="Arial"/>
                <a:ea typeface="Arial"/>
                <a:cs typeface="Arial"/>
                <a:sym typeface="Arial"/>
              </a:rPr>
              <a:t>Gold</a:t>
            </a:r>
            <a:endParaRPr b="0" i="0" sz="1400" u="none" cap="none" strike="noStrike">
              <a:solidFill>
                <a:srgbClr val="000000"/>
              </a:solidFill>
              <a:latin typeface="Arial"/>
              <a:ea typeface="Arial"/>
              <a:cs typeface="Arial"/>
              <a:sym typeface="Arial"/>
            </a:endParaRPr>
          </a:p>
        </p:txBody>
      </p:sp>
      <p:sp>
        <p:nvSpPr>
          <p:cNvPr id="151" name="Google Shape;151;p11"/>
          <p:cNvSpPr/>
          <p:nvPr/>
        </p:nvSpPr>
        <p:spPr>
          <a:xfrm>
            <a:off x="3693261" y="5532120"/>
            <a:ext cx="155448" cy="155448"/>
          </a:xfrm>
          <a:prstGeom prst="ellipse">
            <a:avLst/>
          </a:prstGeom>
          <a:solidFill>
            <a:srgbClr val="7D8696"/>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1"/>
          <p:cNvSpPr txBox="1"/>
          <p:nvPr/>
        </p:nvSpPr>
        <p:spPr>
          <a:xfrm>
            <a:off x="3921861" y="5486400"/>
            <a:ext cx="237744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200"/>
              <a:buFont typeface="Arial"/>
              <a:buNone/>
            </a:pPr>
            <a:r>
              <a:rPr b="0" i="0" lang="en-US" sz="1200" u="none" cap="none" strike="noStrike">
                <a:solidFill>
                  <a:srgbClr val="3F4B5E"/>
                </a:solidFill>
                <a:latin typeface="Arial"/>
                <a:ea typeface="Arial"/>
                <a:cs typeface="Arial"/>
                <a:sym typeface="Arial"/>
              </a:rPr>
              <a:t>Other (iron, steel, coal…)</a:t>
            </a:r>
            <a:endParaRPr b="0" i="0" sz="1400" u="none" cap="none" strike="noStrike">
              <a:solidFill>
                <a:srgbClr val="000000"/>
              </a:solidFill>
              <a:latin typeface="Arial"/>
              <a:ea typeface="Arial"/>
              <a:cs typeface="Arial"/>
              <a:sym typeface="Arial"/>
            </a:endParaRPr>
          </a:p>
        </p:txBody>
      </p:sp>
      <p:sp>
        <p:nvSpPr>
          <p:cNvPr id="153" name="Google Shape;153;p11"/>
          <p:cNvSpPr txBox="1"/>
          <p:nvPr/>
        </p:nvSpPr>
        <p:spPr>
          <a:xfrm>
            <a:off x="812901" y="6144768"/>
            <a:ext cx="603504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000"/>
              <a:buFont typeface="Arial"/>
              <a:buNone/>
            </a:pPr>
            <a:r>
              <a:rPr b="0" i="0" lang="en-US" sz="1000" u="none" cap="none" strike="noStrike">
                <a:solidFill>
                  <a:srgbClr val="5A6576"/>
                </a:solidFill>
                <a:latin typeface="Arial"/>
                <a:ea typeface="Arial"/>
                <a:cs typeface="Arial"/>
                <a:sym typeface="Arial"/>
              </a:rPr>
              <a:t>Source: ICMM Global Mining Dataset v1.5 (2026): mines, smelters, refineries and plants.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6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6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6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6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6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6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6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6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158" name="Shape 158"/>
        <p:cNvGrpSpPr/>
        <p:nvPr/>
      </p:nvGrpSpPr>
      <p:grpSpPr>
        <a:xfrm>
          <a:off x="0" y="0"/>
          <a:ext cx="0" cy="0"/>
          <a:chOff x="0" y="0"/>
          <a:chExt cx="0" cy="0"/>
        </a:xfrm>
      </p:grpSpPr>
      <p:sp>
        <p:nvSpPr>
          <p:cNvPr id="159" name="Google Shape;159;p12"/>
          <p:cNvSpPr txBox="1"/>
          <p:nvPr/>
        </p:nvSpPr>
        <p:spPr>
          <a:xfrm>
            <a:off x="812901" y="812901"/>
            <a:ext cx="10565893" cy="2468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PRODUCTION · WHO PRODUCES, AND HOW MUCH</a:t>
            </a:r>
            <a:endParaRPr b="0" i="0" sz="1400" u="none" cap="none" strike="noStrike">
              <a:solidFill>
                <a:srgbClr val="000000"/>
              </a:solidFill>
              <a:latin typeface="Arial"/>
              <a:ea typeface="Arial"/>
              <a:cs typeface="Arial"/>
              <a:sym typeface="Arial"/>
            </a:endParaRPr>
          </a:p>
        </p:txBody>
      </p:sp>
      <p:sp>
        <p:nvSpPr>
          <p:cNvPr id="160" name="Google Shape;160;p12"/>
          <p:cNvSpPr txBox="1"/>
          <p:nvPr/>
        </p:nvSpPr>
        <p:spPr>
          <a:xfrm>
            <a:off x="812901" y="1127455"/>
            <a:ext cx="10565893" cy="868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Chile and Peru lead in copper, Chile and Argentina in lithium, Mexico in gold</a:t>
            </a:r>
            <a:endParaRPr b="0" i="0" sz="1400" u="none" cap="none" strike="noStrike">
              <a:solidFill>
                <a:srgbClr val="000000"/>
              </a:solidFill>
              <a:latin typeface="Arial"/>
              <a:ea typeface="Arial"/>
              <a:cs typeface="Arial"/>
              <a:sym typeface="Arial"/>
            </a:endParaRPr>
          </a:p>
        </p:txBody>
      </p:sp>
      <p:pic>
        <p:nvPicPr>
          <p:cNvPr descr="c_production.png" id="161" name="Google Shape;161;p12"/>
          <p:cNvPicPr preferRelativeResize="0"/>
          <p:nvPr/>
        </p:nvPicPr>
        <p:blipFill rotWithShape="1">
          <a:blip r:embed="rId3">
            <a:alphaModFix/>
          </a:blip>
          <a:srcRect b="0" l="0" r="0" t="0"/>
          <a:stretch/>
        </p:blipFill>
        <p:spPr>
          <a:xfrm>
            <a:off x="812901" y="2697480"/>
            <a:ext cx="6035040" cy="3154680"/>
          </a:xfrm>
          <a:prstGeom prst="rect">
            <a:avLst/>
          </a:prstGeom>
          <a:noFill/>
          <a:ln>
            <a:noFill/>
          </a:ln>
        </p:spPr>
      </p:pic>
      <p:sp>
        <p:nvSpPr>
          <p:cNvPr id="162" name="Google Shape;162;p12"/>
          <p:cNvSpPr txBox="1"/>
          <p:nvPr/>
        </p:nvSpPr>
        <p:spPr>
          <a:xfrm>
            <a:off x="812901" y="2286000"/>
            <a:ext cx="6035040"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Share of world mining output, 2025</a:t>
            </a:r>
            <a:endParaRPr b="0" i="0" sz="1400" u="none" cap="none" strike="noStrike">
              <a:solidFill>
                <a:srgbClr val="000000"/>
              </a:solidFill>
              <a:latin typeface="Arial"/>
              <a:ea typeface="Arial"/>
              <a:cs typeface="Arial"/>
              <a:sym typeface="Arial"/>
            </a:endParaRPr>
          </a:p>
        </p:txBody>
      </p:sp>
      <p:graphicFrame>
        <p:nvGraphicFramePr>
          <p:cNvPr id="163" name="Google Shape;163;p12"/>
          <p:cNvGraphicFramePr/>
          <p:nvPr/>
        </p:nvGraphicFramePr>
        <p:xfrm>
          <a:off x="6995160" y="2286000"/>
          <a:ext cx="3000000" cy="3000000"/>
        </p:xfrm>
        <a:graphic>
          <a:graphicData uri="http://schemas.openxmlformats.org/drawingml/2006/table">
            <a:tbl>
              <a:tblPr>
                <a:noFill/>
                <a:tableStyleId>{37130B21-6BA1-4AF0-A839-E2DA7224B065}</a:tableStyleId>
              </a:tblPr>
              <a:tblGrid>
                <a:gridCol w="1185050"/>
                <a:gridCol w="1097275"/>
                <a:gridCol w="1053400"/>
                <a:gridCol w="1053400"/>
              </a:tblGrid>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5F6B7C"/>
                          </a:solidFill>
                          <a:latin typeface="Arial"/>
                          <a:ea typeface="Arial"/>
                          <a:cs typeface="Arial"/>
                          <a:sym typeface="Arial"/>
                        </a:rPr>
                        <a:t>Country</a:t>
                      </a:r>
                      <a:endParaRPr sz="1400" u="none" cap="none" strike="noStrike"/>
                    </a:p>
                  </a:txBody>
                  <a:tcPr marT="27425" marB="27425" marR="73150" marL="73150" anchor="ctr">
                    <a:solidFill>
                      <a:srgbClr val="F6F3E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5F6B7C"/>
                          </a:solidFill>
                          <a:latin typeface="Arial"/>
                          <a:ea typeface="Arial"/>
                          <a:cs typeface="Arial"/>
                          <a:sym typeface="Arial"/>
                        </a:rPr>
                        <a:t>Mineral</a:t>
                      </a:r>
                      <a:endParaRPr sz="1400" u="none" cap="none" strike="noStrike"/>
                    </a:p>
                  </a:txBody>
                  <a:tcPr marT="27425" marB="27425" marR="73150" marL="73150" anchor="ctr">
                    <a:solidFill>
                      <a:srgbClr val="F6F3EC"/>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5F6B7C"/>
                          </a:solidFill>
                          <a:latin typeface="Arial"/>
                          <a:ea typeface="Arial"/>
                          <a:cs typeface="Arial"/>
                          <a:sym typeface="Arial"/>
                        </a:rPr>
                        <a:t>2025</a:t>
                      </a:r>
                      <a:endParaRPr sz="1400" u="none" cap="none" strike="noStrike"/>
                    </a:p>
                  </a:txBody>
                  <a:tcPr marT="27425" marB="27425" marR="73150" marL="73150" anchor="ctr">
                    <a:solidFill>
                      <a:srgbClr val="F6F3EC"/>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5F6B7C"/>
                          </a:solidFill>
                          <a:latin typeface="Arial"/>
                          <a:ea typeface="Arial"/>
                          <a:cs typeface="Arial"/>
                          <a:sym typeface="Arial"/>
                        </a:rPr>
                        <a:t>2040</a:t>
                      </a:r>
                      <a:endParaRPr sz="1400" u="none" cap="none" strike="noStrike"/>
                    </a:p>
                  </a:txBody>
                  <a:tcPr marT="27425" marB="27425" marR="73150" marL="73150" anchor="ctr">
                    <a:solidFill>
                      <a:srgbClr val="F6F3EC"/>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Chile</a:t>
                      </a:r>
                      <a:endParaRPr sz="1400" u="none" cap="none" strike="noStrike"/>
                    </a:p>
                  </a:txBody>
                  <a:tcPr marT="27425" marB="27425" marR="73150" marL="73150" anchor="ctr">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Copper</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5,485 kt</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4,165 kt</a:t>
                      </a:r>
                      <a:endParaRPr sz="1400" u="none" cap="none" strike="noStrike"/>
                    </a:p>
                  </a:txBody>
                  <a:tcPr marT="27425" marB="27425" marR="73150" marL="73150" anchor="ctr">
                    <a:solidFill>
                      <a:srgbClr val="FFFFFF"/>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Peru</a:t>
                      </a:r>
                      <a:endParaRPr sz="1400" u="none" cap="none" strike="noStrike"/>
                    </a:p>
                  </a:txBody>
                  <a:tcPr marT="27425" marB="27425" marR="73150" marL="73150" anchor="ctr">
                    <a:solidFill>
                      <a:srgbClr val="EBE6D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Copper</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2,726 kt</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1,859 kt</a:t>
                      </a:r>
                      <a:endParaRPr sz="1400" u="none" cap="none" strike="noStrike"/>
                    </a:p>
                  </a:txBody>
                  <a:tcPr marT="27425" marB="27425" marR="73150" marL="73150" anchor="ctr">
                    <a:solidFill>
                      <a:srgbClr val="EBE6DA"/>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Chile</a:t>
                      </a:r>
                      <a:endParaRPr sz="1400" u="none" cap="none" strike="noStrike"/>
                    </a:p>
                  </a:txBody>
                  <a:tcPr marT="27425" marB="27425" marR="73150" marL="73150" anchor="ctr">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Lithium</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52.1 kt</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58.6 kt</a:t>
                      </a:r>
                      <a:endParaRPr sz="1400" u="none" cap="none" strike="noStrike"/>
                    </a:p>
                  </a:txBody>
                  <a:tcPr marT="27425" marB="27425" marR="73150" marL="73150" anchor="ctr">
                    <a:solidFill>
                      <a:srgbClr val="FFFFFF"/>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Argentina</a:t>
                      </a:r>
                      <a:endParaRPr sz="1400" u="none" cap="none" strike="noStrike"/>
                    </a:p>
                  </a:txBody>
                  <a:tcPr marT="27425" marB="27425" marR="73150" marL="73150" anchor="ctr">
                    <a:solidFill>
                      <a:srgbClr val="EBE6D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Lithium</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18.7 kt</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54.4 kt</a:t>
                      </a:r>
                      <a:endParaRPr sz="1400" u="none" cap="none" strike="noStrike"/>
                    </a:p>
                  </a:txBody>
                  <a:tcPr marT="27425" marB="27425" marR="73150" marL="73150" anchor="ctr">
                    <a:solidFill>
                      <a:srgbClr val="EBE6DA"/>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Mexico</a:t>
                      </a:r>
                      <a:endParaRPr sz="1400" u="none" cap="none" strike="noStrike"/>
                    </a:p>
                  </a:txBody>
                  <a:tcPr marT="27425" marB="27425" marR="73150" marL="73150" anchor="ctr">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Gold</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140 t</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a:t>
                      </a:r>
                      <a:endParaRPr sz="1400" u="none" cap="none" strike="noStrike"/>
                    </a:p>
                  </a:txBody>
                  <a:tcPr marT="27425" marB="27425" marR="73150" marL="73150" anchor="ctr">
                    <a:solidFill>
                      <a:srgbClr val="FFFFFF"/>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Peru</a:t>
                      </a:r>
                      <a:endParaRPr sz="1400" u="none" cap="none" strike="noStrike"/>
                    </a:p>
                  </a:txBody>
                  <a:tcPr marT="27425" marB="27425" marR="73150" marL="73150" anchor="ctr">
                    <a:solidFill>
                      <a:srgbClr val="EBE6D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Gold</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110 t</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a:t>
                      </a:r>
                      <a:endParaRPr sz="1400" u="none" cap="none" strike="noStrike"/>
                    </a:p>
                  </a:txBody>
                  <a:tcPr marT="27425" marB="27425" marR="73150" marL="73150" anchor="ctr">
                    <a:solidFill>
                      <a:srgbClr val="EBE6DA"/>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Brazil</a:t>
                      </a:r>
                      <a:endParaRPr sz="1400" u="none" cap="none" strike="noStrike"/>
                    </a:p>
                  </a:txBody>
                  <a:tcPr marT="27425" marB="27425" marR="73150" marL="73150" anchor="ctr">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Gold</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80 t</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a:t>
                      </a:r>
                      <a:endParaRPr sz="1400" u="none" cap="none" strike="noStrike"/>
                    </a:p>
                  </a:txBody>
                  <a:tcPr marT="27425" marB="27425" marR="73150" marL="73150" anchor="ctr">
                    <a:solidFill>
                      <a:srgbClr val="FFFFFF"/>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Brazil</a:t>
                      </a:r>
                      <a:endParaRPr sz="1400" u="none" cap="none" strike="noStrike"/>
                    </a:p>
                  </a:txBody>
                  <a:tcPr marT="27425" marB="27425" marR="73150" marL="73150" anchor="ctr">
                    <a:solidFill>
                      <a:srgbClr val="EBE6D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Graphite</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64.1 kt</a:t>
                      </a:r>
                      <a:endParaRPr sz="1400" u="none" cap="none" strike="noStrike"/>
                    </a:p>
                  </a:txBody>
                  <a:tcPr marT="27425" marB="27425" marR="73150" marL="73150" anchor="ctr">
                    <a:solidFill>
                      <a:srgbClr val="EBE6DA"/>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83.9 kt</a:t>
                      </a:r>
                      <a:endParaRPr sz="1400" u="none" cap="none" strike="noStrike"/>
                    </a:p>
                  </a:txBody>
                  <a:tcPr marT="27425" marB="27425" marR="73150" marL="73150" anchor="ctr">
                    <a:solidFill>
                      <a:srgbClr val="EBE6DA"/>
                    </a:solidFill>
                  </a:tcPr>
                </a:tc>
              </a:tr>
              <a:tr h="3291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14202F"/>
                          </a:solidFill>
                          <a:latin typeface="Arial"/>
                          <a:ea typeface="Arial"/>
                          <a:cs typeface="Arial"/>
                          <a:sym typeface="Arial"/>
                        </a:rPr>
                        <a:t>Brazil</a:t>
                      </a:r>
                      <a:endParaRPr sz="1400" u="none" cap="none" strike="noStrike"/>
                    </a:p>
                  </a:txBody>
                  <a:tcPr marT="27425" marB="27425" marR="73150" marL="73150" anchor="ctr">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Nickel</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85.0 kt</a:t>
                      </a:r>
                      <a:endParaRPr sz="1400" u="none" cap="none" strike="noStrike"/>
                    </a:p>
                  </a:txBody>
                  <a:tcPr marT="27425" marB="27425" marR="73150" marL="73150" anchor="ctr">
                    <a:solidFill>
                      <a:srgbClr val="FFFFFF"/>
                    </a:solidFill>
                  </a:tcPr>
                </a:tc>
                <a:tc>
                  <a:txBody>
                    <a:bodyPr/>
                    <a:lstStyle/>
                    <a:p>
                      <a:pPr indent="0" lvl="0" marL="0" marR="0" rtl="0" algn="r">
                        <a:lnSpc>
                          <a:spcPct val="100000"/>
                        </a:lnSpc>
                        <a:spcBef>
                          <a:spcPts val="0"/>
                        </a:spcBef>
                        <a:spcAft>
                          <a:spcPts val="0"/>
                        </a:spcAft>
                        <a:buClr>
                          <a:srgbClr val="000000"/>
                        </a:buClr>
                        <a:buSzPts val="1200"/>
                        <a:buFont typeface="Arial"/>
                        <a:buNone/>
                      </a:pPr>
                      <a:r>
                        <a:rPr b="0" lang="en-US" sz="1200" u="none" cap="none" strike="noStrike">
                          <a:solidFill>
                            <a:srgbClr val="14202F"/>
                          </a:solidFill>
                          <a:latin typeface="Arial"/>
                          <a:ea typeface="Arial"/>
                          <a:cs typeface="Arial"/>
                          <a:sym typeface="Arial"/>
                        </a:rPr>
                        <a:t>82.0 kt</a:t>
                      </a:r>
                      <a:endParaRPr sz="1400" u="none" cap="none" strike="noStrike"/>
                    </a:p>
                  </a:txBody>
                  <a:tcPr marT="27425" marB="27425" marR="73150" marL="73150" anchor="ctr">
                    <a:solidFill>
                      <a:srgbClr val="FFFFFF"/>
                    </a:solidFill>
                  </a:tcPr>
                </a:tc>
              </a:tr>
            </a:tbl>
          </a:graphicData>
        </a:graphic>
      </p:graphicFrame>
      <p:sp>
        <p:nvSpPr>
          <p:cNvPr id="164" name="Google Shape;164;p12"/>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Mining output in kt; gold in tonnes. IEA Critical Minerals Data Explorer 2026, base case; gold: USGS Mineral Commodity Summaries 2026 (2025 estimate, no 2040 projection).</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D5E2"/>
        </a:solidFill>
      </p:bgPr>
    </p:bg>
    <p:spTree>
      <p:nvGrpSpPr>
        <p:cNvPr id="169" name="Shape 169"/>
        <p:cNvGrpSpPr/>
        <p:nvPr/>
      </p:nvGrpSpPr>
      <p:grpSpPr>
        <a:xfrm>
          <a:off x="0" y="0"/>
          <a:ext cx="0" cy="0"/>
          <a:chOff x="0" y="0"/>
          <a:chExt cx="0" cy="0"/>
        </a:xfrm>
      </p:grpSpPr>
      <p:sp>
        <p:nvSpPr>
          <p:cNvPr id="170" name="Google Shape;170;p13"/>
          <p:cNvSpPr txBox="1"/>
          <p:nvPr/>
        </p:nvSpPr>
        <p:spPr>
          <a:xfrm>
            <a:off x="812901" y="812901"/>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PART 03 OF 04</a:t>
            </a:r>
            <a:endParaRPr b="0" i="0" sz="1400" u="none" cap="none" strike="noStrike">
              <a:solidFill>
                <a:srgbClr val="000000"/>
              </a:solidFill>
              <a:latin typeface="Arial"/>
              <a:ea typeface="Arial"/>
              <a:cs typeface="Arial"/>
              <a:sym typeface="Arial"/>
            </a:endParaRPr>
          </a:p>
        </p:txBody>
      </p:sp>
      <p:sp>
        <p:nvSpPr>
          <p:cNvPr id="171" name="Google Shape;171;p13"/>
          <p:cNvSpPr txBox="1"/>
          <p:nvPr/>
        </p:nvSpPr>
        <p:spPr>
          <a:xfrm>
            <a:off x="812901" y="1828800"/>
            <a:ext cx="365760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0"/>
              <a:buFont typeface="Arial"/>
              <a:buNone/>
            </a:pPr>
            <a:r>
              <a:rPr b="1" i="0" lang="en-US" sz="11000" u="none" cap="none" strike="noStrike">
                <a:solidFill>
                  <a:srgbClr val="B8392A"/>
                </a:solidFill>
                <a:latin typeface="Georgia"/>
                <a:ea typeface="Georgia"/>
                <a:cs typeface="Georgia"/>
                <a:sym typeface="Georgia"/>
              </a:rPr>
              <a:t>03</a:t>
            </a:r>
            <a:endParaRPr b="0" i="0" sz="1400" u="none" cap="none" strike="noStrike">
              <a:solidFill>
                <a:srgbClr val="000000"/>
              </a:solidFill>
              <a:latin typeface="Arial"/>
              <a:ea typeface="Arial"/>
              <a:cs typeface="Arial"/>
              <a:sym typeface="Arial"/>
            </a:endParaRPr>
          </a:p>
        </p:txBody>
      </p:sp>
      <p:sp>
        <p:nvSpPr>
          <p:cNvPr id="172" name="Google Shape;172;p13"/>
          <p:cNvSpPr txBox="1"/>
          <p:nvPr/>
        </p:nvSpPr>
        <p:spPr>
          <a:xfrm>
            <a:off x="812901" y="3429000"/>
            <a:ext cx="96012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14202F"/>
                </a:solidFill>
                <a:latin typeface="Georgia"/>
                <a:ea typeface="Georgia"/>
                <a:cs typeface="Georgia"/>
                <a:sym typeface="Georgia"/>
              </a:rPr>
              <a:t>Conflicts &amp; abuses</a:t>
            </a:r>
            <a:endParaRPr b="0" i="0" sz="1400" u="none" cap="none" strike="noStrike">
              <a:solidFill>
                <a:srgbClr val="000000"/>
              </a:solidFill>
              <a:latin typeface="Arial"/>
              <a:ea typeface="Arial"/>
              <a:cs typeface="Arial"/>
              <a:sym typeface="Arial"/>
            </a:endParaRPr>
          </a:p>
        </p:txBody>
      </p:sp>
      <p:sp>
        <p:nvSpPr>
          <p:cNvPr id="173" name="Google Shape;173;p13"/>
          <p:cNvSpPr txBox="1"/>
          <p:nvPr/>
        </p:nvSpPr>
        <p:spPr>
          <a:xfrm>
            <a:off x="812901" y="4343400"/>
            <a:ext cx="96012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3F4B5E"/>
                </a:solidFill>
                <a:latin typeface="Arial"/>
                <a:ea typeface="Arial"/>
                <a:cs typeface="Arial"/>
                <a:sym typeface="Arial"/>
              </a:rPr>
              <a:t>Mining conflicts, and a deep dive on killed environmental defenders</a:t>
            </a:r>
            <a:endParaRPr b="0" i="0" sz="1400" u="none" cap="none" strike="noStrike">
              <a:solidFill>
                <a:srgbClr val="000000"/>
              </a:solidFill>
              <a:latin typeface="Arial"/>
              <a:ea typeface="Arial"/>
              <a:cs typeface="Arial"/>
              <a:sym typeface="Arial"/>
            </a:endParaRPr>
          </a:p>
        </p:txBody>
      </p:sp>
      <p:sp>
        <p:nvSpPr>
          <p:cNvPr id="174" name="Google Shape;174;p13"/>
          <p:cNvSpPr/>
          <p:nvPr/>
        </p:nvSpPr>
        <p:spPr>
          <a:xfrm>
            <a:off x="812901" y="5623560"/>
            <a:ext cx="2370580" cy="54864"/>
          </a:xfrm>
          <a:prstGeom prst="rect">
            <a:avLst/>
          </a:prstGeom>
          <a:solidFill>
            <a:srgbClr val="3F4B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3"/>
          <p:cNvSpPr txBox="1"/>
          <p:nvPr/>
        </p:nvSpPr>
        <p:spPr>
          <a:xfrm>
            <a:off x="812901"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F4B5E"/>
                </a:solidFill>
                <a:latin typeface="Arial"/>
                <a:ea typeface="Arial"/>
                <a:cs typeface="Arial"/>
                <a:sym typeface="Arial"/>
              </a:rPr>
              <a:t>01  Intro</a:t>
            </a:r>
            <a:endParaRPr b="0" i="0" sz="1400" u="none" cap="none" strike="noStrike">
              <a:solidFill>
                <a:srgbClr val="000000"/>
              </a:solidFill>
              <a:latin typeface="Arial"/>
              <a:ea typeface="Arial"/>
              <a:cs typeface="Arial"/>
              <a:sym typeface="Arial"/>
            </a:endParaRPr>
          </a:p>
        </p:txBody>
      </p:sp>
      <p:sp>
        <p:nvSpPr>
          <p:cNvPr id="176" name="Google Shape;176;p13"/>
          <p:cNvSpPr/>
          <p:nvPr/>
        </p:nvSpPr>
        <p:spPr>
          <a:xfrm>
            <a:off x="3293209" y="5623560"/>
            <a:ext cx="2370580" cy="54864"/>
          </a:xfrm>
          <a:prstGeom prst="rect">
            <a:avLst/>
          </a:prstGeom>
          <a:solidFill>
            <a:srgbClr val="3F4B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3"/>
          <p:cNvSpPr txBox="1"/>
          <p:nvPr/>
        </p:nvSpPr>
        <p:spPr>
          <a:xfrm>
            <a:off x="3293209"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F4B5E"/>
                </a:solidFill>
                <a:latin typeface="Arial"/>
                <a:ea typeface="Arial"/>
                <a:cs typeface="Arial"/>
                <a:sym typeface="Arial"/>
              </a:rPr>
              <a:t>02  Production &amp; sites</a:t>
            </a:r>
            <a:endParaRPr b="0" i="0" sz="1400" u="none" cap="none" strike="noStrike">
              <a:solidFill>
                <a:srgbClr val="000000"/>
              </a:solidFill>
              <a:latin typeface="Arial"/>
              <a:ea typeface="Arial"/>
              <a:cs typeface="Arial"/>
              <a:sym typeface="Arial"/>
            </a:endParaRPr>
          </a:p>
        </p:txBody>
      </p:sp>
      <p:sp>
        <p:nvSpPr>
          <p:cNvPr id="178" name="Google Shape;178;p13"/>
          <p:cNvSpPr/>
          <p:nvPr/>
        </p:nvSpPr>
        <p:spPr>
          <a:xfrm>
            <a:off x="5773517" y="5623560"/>
            <a:ext cx="2370580" cy="54864"/>
          </a:xfrm>
          <a:prstGeom prst="rect">
            <a:avLst/>
          </a:prstGeom>
          <a:solidFill>
            <a:srgbClr val="B8392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3"/>
          <p:cNvSpPr txBox="1"/>
          <p:nvPr/>
        </p:nvSpPr>
        <p:spPr>
          <a:xfrm>
            <a:off x="5773517"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202F"/>
                </a:solidFill>
                <a:latin typeface="Arial"/>
                <a:ea typeface="Arial"/>
                <a:cs typeface="Arial"/>
                <a:sym typeface="Arial"/>
              </a:rPr>
              <a:t>03  Conflicts &amp; abuses</a:t>
            </a:r>
            <a:endParaRPr b="0" i="0" sz="1400" u="none" cap="none" strike="noStrike">
              <a:solidFill>
                <a:srgbClr val="000000"/>
              </a:solidFill>
              <a:latin typeface="Arial"/>
              <a:ea typeface="Arial"/>
              <a:cs typeface="Arial"/>
              <a:sym typeface="Arial"/>
            </a:endParaRPr>
          </a:p>
        </p:txBody>
      </p:sp>
      <p:sp>
        <p:nvSpPr>
          <p:cNvPr id="180" name="Google Shape;180;p13"/>
          <p:cNvSpPr/>
          <p:nvPr/>
        </p:nvSpPr>
        <p:spPr>
          <a:xfrm>
            <a:off x="8253825" y="5623560"/>
            <a:ext cx="2370580" cy="54864"/>
          </a:xfrm>
          <a:prstGeom prst="rect">
            <a:avLst/>
          </a:prstGeom>
          <a:solidFill>
            <a:srgbClr val="7D88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3"/>
          <p:cNvSpPr txBox="1"/>
          <p:nvPr/>
        </p:nvSpPr>
        <p:spPr>
          <a:xfrm>
            <a:off x="8253825"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7D8899"/>
                </a:solidFill>
                <a:latin typeface="Arial"/>
                <a:ea typeface="Arial"/>
                <a:cs typeface="Arial"/>
                <a:sym typeface="Arial"/>
              </a:rPr>
              <a:t>04  Conclusions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186" name="Shape 186"/>
        <p:cNvGrpSpPr/>
        <p:nvPr/>
      </p:nvGrpSpPr>
      <p:grpSpPr>
        <a:xfrm>
          <a:off x="0" y="0"/>
          <a:ext cx="0" cy="0"/>
          <a:chOff x="0" y="0"/>
          <a:chExt cx="0" cy="0"/>
        </a:xfrm>
      </p:grpSpPr>
      <p:sp>
        <p:nvSpPr>
          <p:cNvPr id="187" name="Google Shape;187;p14"/>
          <p:cNvSpPr txBox="1"/>
          <p:nvPr/>
        </p:nvSpPr>
        <p:spPr>
          <a:xfrm>
            <a:off x="812901" y="812901"/>
            <a:ext cx="10565893" cy="2468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CONFLICTS · OBSERVATORY OF MINING CONFLICTS</a:t>
            </a:r>
            <a:endParaRPr b="0" i="0" sz="1400" u="none" cap="none" strike="noStrike">
              <a:solidFill>
                <a:srgbClr val="000000"/>
              </a:solidFill>
              <a:latin typeface="Arial"/>
              <a:ea typeface="Arial"/>
              <a:cs typeface="Arial"/>
              <a:sym typeface="Arial"/>
            </a:endParaRPr>
          </a:p>
        </p:txBody>
      </p:sp>
      <p:sp>
        <p:nvSpPr>
          <p:cNvPr id="188" name="Google Shape;188;p14"/>
          <p:cNvSpPr txBox="1"/>
          <p:nvPr/>
        </p:nvSpPr>
        <p:spPr>
          <a:xfrm>
            <a:off x="812901" y="1127455"/>
            <a:ext cx="10565893" cy="868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Most mining conflicts are in South America, led by our four countries</a:t>
            </a:r>
            <a:endParaRPr b="0" i="0" sz="1400" u="none" cap="none" strike="noStrike">
              <a:solidFill>
                <a:srgbClr val="000000"/>
              </a:solidFill>
              <a:latin typeface="Arial"/>
              <a:ea typeface="Arial"/>
              <a:cs typeface="Arial"/>
              <a:sym typeface="Arial"/>
            </a:endParaRPr>
          </a:p>
        </p:txBody>
      </p:sp>
      <p:pic>
        <p:nvPicPr>
          <p:cNvPr descr="c_regions.png" id="189" name="Google Shape;189;p14"/>
          <p:cNvPicPr preferRelativeResize="0"/>
          <p:nvPr/>
        </p:nvPicPr>
        <p:blipFill rotWithShape="1">
          <a:blip r:embed="rId3">
            <a:alphaModFix/>
          </a:blip>
          <a:srcRect b="0" l="0" r="0" t="0"/>
          <a:stretch/>
        </p:blipFill>
        <p:spPr>
          <a:xfrm>
            <a:off x="812901" y="2697480"/>
            <a:ext cx="5008626" cy="3154680"/>
          </a:xfrm>
          <a:prstGeom prst="rect">
            <a:avLst/>
          </a:prstGeom>
          <a:noFill/>
          <a:ln>
            <a:noFill/>
          </a:ln>
        </p:spPr>
      </p:pic>
      <p:sp>
        <p:nvSpPr>
          <p:cNvPr id="190" name="Google Shape;190;p14"/>
          <p:cNvSpPr txBox="1"/>
          <p:nvPr/>
        </p:nvSpPr>
        <p:spPr>
          <a:xfrm>
            <a:off x="812901" y="2286000"/>
            <a:ext cx="500862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Mining conflicts per region</a:t>
            </a:r>
            <a:endParaRPr b="0" i="0" sz="1400" u="none" cap="none" strike="noStrike">
              <a:solidFill>
                <a:srgbClr val="000000"/>
              </a:solidFill>
              <a:latin typeface="Arial"/>
              <a:ea typeface="Arial"/>
              <a:cs typeface="Arial"/>
              <a:sym typeface="Arial"/>
            </a:endParaRPr>
          </a:p>
        </p:txBody>
      </p:sp>
      <p:pic>
        <p:nvPicPr>
          <p:cNvPr descr="c_sa_country.png" id="191" name="Google Shape;191;p14"/>
          <p:cNvPicPr preferRelativeResize="0"/>
          <p:nvPr/>
        </p:nvPicPr>
        <p:blipFill rotWithShape="1">
          <a:blip r:embed="rId4">
            <a:alphaModFix/>
          </a:blip>
          <a:srcRect b="0" l="0" r="0" t="0"/>
          <a:stretch/>
        </p:blipFill>
        <p:spPr>
          <a:xfrm>
            <a:off x="6370168" y="2697480"/>
            <a:ext cx="5008626" cy="3154680"/>
          </a:xfrm>
          <a:prstGeom prst="rect">
            <a:avLst/>
          </a:prstGeom>
          <a:noFill/>
          <a:ln>
            <a:noFill/>
          </a:ln>
        </p:spPr>
      </p:pic>
      <p:sp>
        <p:nvSpPr>
          <p:cNvPr id="192" name="Google Shape;192;p14"/>
          <p:cNvSpPr txBox="1"/>
          <p:nvPr/>
        </p:nvSpPr>
        <p:spPr>
          <a:xfrm>
            <a:off x="6370167" y="2286000"/>
            <a:ext cx="500862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Mining conflicts in South America, per country</a:t>
            </a:r>
            <a:endParaRPr b="0" i="0" sz="1400" u="none" cap="none" strike="noStrike">
              <a:solidFill>
                <a:srgbClr val="000000"/>
              </a:solidFill>
              <a:latin typeface="Arial"/>
              <a:ea typeface="Arial"/>
              <a:cs typeface="Arial"/>
              <a:sym typeface="Arial"/>
            </a:endParaRPr>
          </a:p>
        </p:txBody>
      </p:sp>
      <p:sp>
        <p:nvSpPr>
          <p:cNvPr id="193" name="Google Shape;193;p14"/>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Source: Observatory of Mining Conflicts in Latin America (OCMAL), 289 conflict-country rows, conflicts started 1972–2019.</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198" name="Shape 198"/>
        <p:cNvGrpSpPr/>
        <p:nvPr/>
      </p:nvGrpSpPr>
      <p:grpSpPr>
        <a:xfrm>
          <a:off x="0" y="0"/>
          <a:ext cx="0" cy="0"/>
          <a:chOff x="0" y="0"/>
          <a:chExt cx="0" cy="0"/>
        </a:xfrm>
      </p:grpSpPr>
      <p:pic>
        <p:nvPicPr>
          <p:cNvPr descr="Map of all of latin america: countries and regions" id="199" name="Google Shape;199;p15"/>
          <p:cNvPicPr preferRelativeResize="0"/>
          <p:nvPr/>
        </p:nvPicPr>
        <p:blipFill rotWithShape="1">
          <a:blip r:embed="rId3">
            <a:alphaModFix/>
          </a:blip>
          <a:srcRect b="0" l="0" r="0" t="0"/>
          <a:stretch/>
        </p:blipFill>
        <p:spPr>
          <a:xfrm>
            <a:off x="6007100" y="0"/>
            <a:ext cx="6184900" cy="6858000"/>
          </a:xfrm>
          <a:prstGeom prst="rect">
            <a:avLst/>
          </a:prstGeom>
          <a:noFill/>
          <a:ln>
            <a:noFill/>
          </a:ln>
        </p:spPr>
      </p:pic>
      <p:pic>
        <p:nvPicPr>
          <p:cNvPr descr="Large-scale mining sites as dots" id="200" name="Google Shape;200;p15"/>
          <p:cNvPicPr preferRelativeResize="0"/>
          <p:nvPr/>
        </p:nvPicPr>
        <p:blipFill rotWithShape="1">
          <a:blip r:embed="rId4">
            <a:alphaModFix/>
          </a:blip>
          <a:srcRect b="0" l="0" r="0" t="0"/>
          <a:stretch/>
        </p:blipFill>
        <p:spPr>
          <a:xfrm>
            <a:off x="6007100" y="0"/>
            <a:ext cx="6184900" cy="6858000"/>
          </a:xfrm>
          <a:prstGeom prst="rect">
            <a:avLst/>
          </a:prstGeom>
          <a:noFill/>
          <a:ln>
            <a:noFill/>
          </a:ln>
        </p:spPr>
      </p:pic>
      <p:pic>
        <p:nvPicPr>
          <p:cNvPr descr="Provinces with mining conflicts, circles sized by number of conflicts" id="201" name="Google Shape;201;p15"/>
          <p:cNvPicPr preferRelativeResize="0"/>
          <p:nvPr/>
        </p:nvPicPr>
        <p:blipFill rotWithShape="1">
          <a:blip r:embed="rId5">
            <a:alphaModFix/>
          </a:blip>
          <a:srcRect b="0" l="0" r="0" t="0"/>
          <a:stretch/>
        </p:blipFill>
        <p:spPr>
          <a:xfrm>
            <a:off x="6007100" y="0"/>
            <a:ext cx="6184900" cy="6858000"/>
          </a:xfrm>
          <a:prstGeom prst="rect">
            <a:avLst/>
          </a:prstGeom>
          <a:noFill/>
          <a:ln>
            <a:noFill/>
          </a:ln>
        </p:spPr>
      </p:pic>
      <p:sp>
        <p:nvSpPr>
          <p:cNvPr id="202" name="Google Shape;202;p15"/>
          <p:cNvSpPr/>
          <p:nvPr/>
        </p:nvSpPr>
        <p:spPr>
          <a:xfrm>
            <a:off x="812800" y="711200"/>
            <a:ext cx="483997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392A"/>
              </a:buClr>
              <a:buSzPts val="1200"/>
              <a:buFont typeface="Arial"/>
              <a:buNone/>
            </a:pPr>
            <a:r>
              <a:rPr b="1" i="0" lang="en-US" sz="1200" u="none" cap="none" strike="noStrike">
                <a:solidFill>
                  <a:srgbClr val="B8392A"/>
                </a:solidFill>
                <a:latin typeface="Arial"/>
                <a:ea typeface="Arial"/>
                <a:cs typeface="Arial"/>
                <a:sym typeface="Arial"/>
              </a:rPr>
              <a:t>CONFLICTS · ALL OF LATIN AMERICA</a:t>
            </a:r>
            <a:endParaRPr b="0" i="0" sz="1200" u="none" cap="none" strike="noStrike">
              <a:solidFill>
                <a:schemeClr val="dk1"/>
              </a:solidFill>
              <a:latin typeface="Arial"/>
              <a:ea typeface="Arial"/>
              <a:cs typeface="Arial"/>
              <a:sym typeface="Arial"/>
            </a:endParaRPr>
          </a:p>
        </p:txBody>
      </p:sp>
      <p:sp>
        <p:nvSpPr>
          <p:cNvPr id="203" name="Google Shape;203;p15"/>
          <p:cNvSpPr txBox="1"/>
          <p:nvPr>
            <p:ph type="title"/>
          </p:nvPr>
        </p:nvSpPr>
        <p:spPr>
          <a:xfrm>
            <a:off x="812800" y="990600"/>
            <a:ext cx="5166360" cy="4445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4202F"/>
              </a:buClr>
              <a:buSzPts val="3000"/>
              <a:buFont typeface="Georgia"/>
              <a:buNone/>
            </a:pPr>
            <a:r>
              <a:rPr b="1" i="0" lang="en-US" sz="2400">
                <a:solidFill>
                  <a:srgbClr val="14202F"/>
                </a:solidFill>
                <a:latin typeface="Georgia"/>
                <a:ea typeface="Georgia"/>
                <a:cs typeface="Georgia"/>
                <a:sym typeface="Georgia"/>
              </a:rPr>
              <a:t>Conflicts follow the mines</a:t>
            </a:r>
            <a:endParaRPr sz="3000"/>
          </a:p>
        </p:txBody>
      </p:sp>
      <p:sp>
        <p:nvSpPr>
          <p:cNvPr id="204" name="Google Shape;204;p15"/>
          <p:cNvSpPr/>
          <p:nvPr/>
        </p:nvSpPr>
        <p:spPr>
          <a:xfrm>
            <a:off x="812800" y="1905000"/>
            <a:ext cx="483997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392A"/>
              </a:buClr>
              <a:buSzPts val="1800"/>
              <a:buFont typeface="Arial"/>
              <a:buNone/>
            </a:pPr>
            <a:r>
              <a:rPr b="1" i="0" lang="en-US" sz="1800" u="none" cap="none" strike="noStrike">
                <a:solidFill>
                  <a:srgbClr val="B8392A"/>
                </a:solidFill>
                <a:latin typeface="Arial"/>
                <a:ea typeface="Arial"/>
                <a:cs typeface="Arial"/>
                <a:sym typeface="Arial"/>
              </a:rPr>
              <a:t>1</a:t>
            </a:r>
            <a:r>
              <a:rPr b="1" i="0" lang="en-US" sz="1800" u="none" cap="none" strike="noStrike">
                <a:solidFill>
                  <a:srgbClr val="14202F"/>
                </a:solidFill>
                <a:latin typeface="Arial"/>
                <a:ea typeface="Arial"/>
                <a:cs typeface="Arial"/>
                <a:sym typeface="Arial"/>
              </a:rPr>
              <a:t>  Countries and regions</a:t>
            </a:r>
            <a:endParaRPr b="0" i="0" sz="1800" u="none" cap="none" strike="noStrike">
              <a:solidFill>
                <a:schemeClr val="dk1"/>
              </a:solidFill>
              <a:latin typeface="Arial"/>
              <a:ea typeface="Arial"/>
              <a:cs typeface="Arial"/>
              <a:sym typeface="Arial"/>
            </a:endParaRPr>
          </a:p>
        </p:txBody>
      </p:sp>
      <p:sp>
        <p:nvSpPr>
          <p:cNvPr id="205" name="Google Shape;205;p15"/>
          <p:cNvSpPr/>
          <p:nvPr/>
        </p:nvSpPr>
        <p:spPr>
          <a:xfrm>
            <a:off x="815975" y="2295475"/>
            <a:ext cx="158750" cy="158750"/>
          </a:xfrm>
          <a:prstGeom prst="roundRect">
            <a:avLst>
              <a:gd fmla="val 14000" name="adj"/>
            </a:avLst>
          </a:prstGeom>
          <a:solidFill>
            <a:srgbClr val="F3EAD6"/>
          </a:solidFill>
          <a:ln cap="flat" cmpd="sng" w="9525">
            <a:solidFill>
              <a:srgbClr val="9AA3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15"/>
          <p:cNvSpPr/>
          <p:nvPr/>
        </p:nvSpPr>
        <p:spPr>
          <a:xfrm>
            <a:off x="1054100" y="2268190"/>
            <a:ext cx="104194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South America</a:t>
            </a:r>
            <a:endParaRPr b="0" i="0" sz="1200" u="none" cap="none" strike="noStrike">
              <a:solidFill>
                <a:schemeClr val="dk1"/>
              </a:solidFill>
              <a:latin typeface="Arial"/>
              <a:ea typeface="Arial"/>
              <a:cs typeface="Arial"/>
              <a:sym typeface="Arial"/>
            </a:endParaRPr>
          </a:p>
        </p:txBody>
      </p:sp>
      <p:sp>
        <p:nvSpPr>
          <p:cNvPr id="207" name="Google Shape;207;p15"/>
          <p:cNvSpPr/>
          <p:nvPr/>
        </p:nvSpPr>
        <p:spPr>
          <a:xfrm>
            <a:off x="2048421" y="2295475"/>
            <a:ext cx="158750" cy="158750"/>
          </a:xfrm>
          <a:prstGeom prst="roundRect">
            <a:avLst>
              <a:gd fmla="val 14000" name="adj"/>
            </a:avLst>
          </a:prstGeom>
          <a:solidFill>
            <a:srgbClr val="EAE0EF"/>
          </a:solidFill>
          <a:ln cap="flat" cmpd="sng" w="9525">
            <a:solidFill>
              <a:srgbClr val="9AA3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p15"/>
          <p:cNvSpPr/>
          <p:nvPr/>
        </p:nvSpPr>
        <p:spPr>
          <a:xfrm>
            <a:off x="2286546" y="2268190"/>
            <a:ext cx="180579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Mexico &amp; Central America</a:t>
            </a:r>
            <a:endParaRPr b="0" i="0" sz="1200" u="none" cap="none" strike="noStrike">
              <a:solidFill>
                <a:schemeClr val="dk1"/>
              </a:solidFill>
              <a:latin typeface="Arial"/>
              <a:ea typeface="Arial"/>
              <a:cs typeface="Arial"/>
              <a:sym typeface="Arial"/>
            </a:endParaRPr>
          </a:p>
        </p:txBody>
      </p:sp>
      <p:sp>
        <p:nvSpPr>
          <p:cNvPr id="209" name="Google Shape;209;p15"/>
          <p:cNvSpPr/>
          <p:nvPr/>
        </p:nvSpPr>
        <p:spPr>
          <a:xfrm>
            <a:off x="4042916" y="2295475"/>
            <a:ext cx="158750" cy="158750"/>
          </a:xfrm>
          <a:prstGeom prst="roundRect">
            <a:avLst>
              <a:gd fmla="val 14000" name="adj"/>
            </a:avLst>
          </a:prstGeom>
          <a:solidFill>
            <a:srgbClr val="D7ECE5"/>
          </a:solidFill>
          <a:ln cap="flat" cmpd="sng" w="9525">
            <a:solidFill>
              <a:srgbClr val="9AA3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0" name="Google Shape;210;p15"/>
          <p:cNvSpPr/>
          <p:nvPr/>
        </p:nvSpPr>
        <p:spPr>
          <a:xfrm>
            <a:off x="4281041" y="2268190"/>
            <a:ext cx="75401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Caribbean</a:t>
            </a:r>
            <a:endParaRPr b="0" i="0" sz="1200" u="none" cap="none" strike="noStrike">
              <a:solidFill>
                <a:schemeClr val="dk1"/>
              </a:solidFill>
              <a:latin typeface="Arial"/>
              <a:ea typeface="Arial"/>
              <a:cs typeface="Arial"/>
              <a:sym typeface="Arial"/>
            </a:endParaRPr>
          </a:p>
        </p:txBody>
      </p:sp>
      <p:sp>
        <p:nvSpPr>
          <p:cNvPr id="211" name="Google Shape;211;p15"/>
          <p:cNvSpPr/>
          <p:nvPr/>
        </p:nvSpPr>
        <p:spPr>
          <a:xfrm>
            <a:off x="812800" y="2984500"/>
            <a:ext cx="483997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392A"/>
              </a:buClr>
              <a:buSzPts val="1800"/>
              <a:buFont typeface="Arial"/>
              <a:buNone/>
            </a:pPr>
            <a:r>
              <a:rPr b="1" i="0" lang="en-US" sz="1800" u="none" cap="none" strike="noStrike">
                <a:solidFill>
                  <a:srgbClr val="B8392A"/>
                </a:solidFill>
                <a:latin typeface="Arial"/>
                <a:ea typeface="Arial"/>
                <a:cs typeface="Arial"/>
                <a:sym typeface="Arial"/>
              </a:rPr>
              <a:t>2</a:t>
            </a:r>
            <a:r>
              <a:rPr b="1" i="0" lang="en-US" sz="1800" u="none" cap="none" strike="noStrike">
                <a:solidFill>
                  <a:srgbClr val="14202F"/>
                </a:solidFill>
                <a:latin typeface="Arial"/>
                <a:ea typeface="Arial"/>
                <a:cs typeface="Arial"/>
                <a:sym typeface="Arial"/>
              </a:rPr>
              <a:t>   Mining sites</a:t>
            </a:r>
            <a:endParaRPr b="0" i="0" sz="1800" u="none" cap="none" strike="noStrike">
              <a:solidFill>
                <a:schemeClr val="dk1"/>
              </a:solidFill>
              <a:latin typeface="Arial"/>
              <a:ea typeface="Arial"/>
              <a:cs typeface="Arial"/>
              <a:sym typeface="Arial"/>
            </a:endParaRPr>
          </a:p>
        </p:txBody>
      </p:sp>
      <p:pic>
        <p:nvPicPr>
          <p:cNvPr descr="ellipse" id="212" name="Google Shape;212;p15"/>
          <p:cNvPicPr preferRelativeResize="0"/>
          <p:nvPr/>
        </p:nvPicPr>
        <p:blipFill rotWithShape="1">
          <a:blip r:embed="rId6">
            <a:alphaModFix/>
          </a:blip>
          <a:srcRect b="0" l="0" r="0" t="0"/>
          <a:stretch/>
        </p:blipFill>
        <p:spPr>
          <a:xfrm>
            <a:off x="812800" y="3384500"/>
            <a:ext cx="139700" cy="139700"/>
          </a:xfrm>
          <a:prstGeom prst="rect">
            <a:avLst/>
          </a:prstGeom>
          <a:noFill/>
          <a:ln>
            <a:noFill/>
          </a:ln>
        </p:spPr>
      </p:pic>
      <p:sp>
        <p:nvSpPr>
          <p:cNvPr id="213" name="Google Shape;213;p15"/>
          <p:cNvSpPr/>
          <p:nvPr/>
        </p:nvSpPr>
        <p:spPr>
          <a:xfrm>
            <a:off x="1028700" y="3347690"/>
            <a:ext cx="143133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Critical minerals 328</a:t>
            </a:r>
            <a:endParaRPr b="0" i="0" sz="1200" u="none" cap="none" strike="noStrike">
              <a:solidFill>
                <a:schemeClr val="dk1"/>
              </a:solidFill>
              <a:latin typeface="Arial"/>
              <a:ea typeface="Arial"/>
              <a:cs typeface="Arial"/>
              <a:sym typeface="Arial"/>
            </a:endParaRPr>
          </a:p>
        </p:txBody>
      </p:sp>
      <p:pic>
        <p:nvPicPr>
          <p:cNvPr descr="ellipse" id="214" name="Google Shape;214;p15"/>
          <p:cNvPicPr preferRelativeResize="0"/>
          <p:nvPr/>
        </p:nvPicPr>
        <p:blipFill rotWithShape="1">
          <a:blip r:embed="rId7">
            <a:alphaModFix/>
          </a:blip>
          <a:srcRect b="0" l="0" r="0" t="0"/>
          <a:stretch/>
        </p:blipFill>
        <p:spPr>
          <a:xfrm>
            <a:off x="2409230" y="3384500"/>
            <a:ext cx="139700" cy="139700"/>
          </a:xfrm>
          <a:prstGeom prst="rect">
            <a:avLst/>
          </a:prstGeom>
          <a:noFill/>
          <a:ln>
            <a:noFill/>
          </a:ln>
        </p:spPr>
      </p:pic>
      <p:sp>
        <p:nvSpPr>
          <p:cNvPr id="215" name="Google Shape;215;p15"/>
          <p:cNvSpPr/>
          <p:nvPr/>
        </p:nvSpPr>
        <p:spPr>
          <a:xfrm>
            <a:off x="2625130" y="3347690"/>
            <a:ext cx="66933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Gold 180</a:t>
            </a:r>
            <a:endParaRPr b="0" i="0" sz="1200" u="none" cap="none" strike="noStrike">
              <a:solidFill>
                <a:schemeClr val="dk1"/>
              </a:solidFill>
              <a:latin typeface="Arial"/>
              <a:ea typeface="Arial"/>
              <a:cs typeface="Arial"/>
              <a:sym typeface="Arial"/>
            </a:endParaRPr>
          </a:p>
        </p:txBody>
      </p:sp>
      <p:pic>
        <p:nvPicPr>
          <p:cNvPr descr="ellipse" id="216" name="Google Shape;216;p15"/>
          <p:cNvPicPr preferRelativeResize="0"/>
          <p:nvPr/>
        </p:nvPicPr>
        <p:blipFill rotWithShape="1">
          <a:blip r:embed="rId8">
            <a:alphaModFix/>
          </a:blip>
          <a:srcRect b="0" l="0" r="0" t="0"/>
          <a:stretch/>
        </p:blipFill>
        <p:spPr>
          <a:xfrm>
            <a:off x="3243659" y="3384500"/>
            <a:ext cx="139700" cy="139700"/>
          </a:xfrm>
          <a:prstGeom prst="rect">
            <a:avLst/>
          </a:prstGeom>
          <a:noFill/>
          <a:ln>
            <a:noFill/>
          </a:ln>
        </p:spPr>
      </p:pic>
      <p:sp>
        <p:nvSpPr>
          <p:cNvPr id="217" name="Google Shape;217;p15"/>
          <p:cNvSpPr/>
          <p:nvPr/>
        </p:nvSpPr>
        <p:spPr>
          <a:xfrm>
            <a:off x="3459559" y="3347690"/>
            <a:ext cx="134679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Other minerals 201</a:t>
            </a:r>
            <a:endParaRPr b="0" i="0" sz="1200" u="none" cap="none" strike="noStrike">
              <a:solidFill>
                <a:schemeClr val="dk1"/>
              </a:solidFill>
              <a:latin typeface="Arial"/>
              <a:ea typeface="Arial"/>
              <a:cs typeface="Arial"/>
              <a:sym typeface="Arial"/>
            </a:endParaRPr>
          </a:p>
        </p:txBody>
      </p:sp>
      <p:sp>
        <p:nvSpPr>
          <p:cNvPr id="218" name="Google Shape;218;p15"/>
          <p:cNvSpPr/>
          <p:nvPr/>
        </p:nvSpPr>
        <p:spPr>
          <a:xfrm>
            <a:off x="812800" y="4381500"/>
            <a:ext cx="483997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392A"/>
              </a:buClr>
              <a:buSzPts val="1800"/>
              <a:buFont typeface="Arial"/>
              <a:buNone/>
            </a:pPr>
            <a:r>
              <a:rPr b="1" i="0" lang="en-US" sz="1800" u="none" cap="none" strike="noStrike">
                <a:solidFill>
                  <a:srgbClr val="B8392A"/>
                </a:solidFill>
                <a:latin typeface="Arial"/>
                <a:ea typeface="Arial"/>
                <a:cs typeface="Arial"/>
                <a:sym typeface="Arial"/>
              </a:rPr>
              <a:t>3</a:t>
            </a:r>
            <a:r>
              <a:rPr b="1" i="0" lang="en-US" sz="1800" u="none" cap="none" strike="noStrike">
                <a:solidFill>
                  <a:srgbClr val="14202F"/>
                </a:solidFill>
                <a:latin typeface="Arial"/>
                <a:ea typeface="Arial"/>
                <a:cs typeface="Arial"/>
                <a:sym typeface="Arial"/>
              </a:rPr>
              <a:t>  Conflicts in 129 provinces</a:t>
            </a:r>
            <a:endParaRPr b="0" i="0" sz="1800" u="none" cap="none" strike="noStrike">
              <a:solidFill>
                <a:schemeClr val="dk1"/>
              </a:solidFill>
              <a:latin typeface="Arial"/>
              <a:ea typeface="Arial"/>
              <a:cs typeface="Arial"/>
              <a:sym typeface="Arial"/>
            </a:endParaRPr>
          </a:p>
        </p:txBody>
      </p:sp>
      <p:pic>
        <p:nvPicPr>
          <p:cNvPr descr="ellipse" id="219" name="Google Shape;219;p15"/>
          <p:cNvPicPr preferRelativeResize="0"/>
          <p:nvPr/>
        </p:nvPicPr>
        <p:blipFill rotWithShape="1">
          <a:blip r:embed="rId9">
            <a:alphaModFix/>
          </a:blip>
          <a:srcRect b="0" l="0" r="0" t="0"/>
          <a:stretch/>
        </p:blipFill>
        <p:spPr>
          <a:xfrm>
            <a:off x="812800" y="4762450"/>
            <a:ext cx="177800" cy="177800"/>
          </a:xfrm>
          <a:prstGeom prst="rect">
            <a:avLst/>
          </a:prstGeom>
          <a:noFill/>
          <a:ln>
            <a:noFill/>
          </a:ln>
        </p:spPr>
      </p:pic>
      <p:sp>
        <p:nvSpPr>
          <p:cNvPr id="220" name="Google Shape;220;p15"/>
          <p:cNvSpPr/>
          <p:nvPr/>
        </p:nvSpPr>
        <p:spPr>
          <a:xfrm>
            <a:off x="1066800" y="4744690"/>
            <a:ext cx="253439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Circle size = conflicts in the province</a:t>
            </a:r>
            <a:endParaRPr b="0" i="0" sz="1200" u="none" cap="none" strike="noStrike">
              <a:solidFill>
                <a:schemeClr val="dk1"/>
              </a:solidFill>
              <a:latin typeface="Arial"/>
              <a:ea typeface="Arial"/>
              <a:cs typeface="Arial"/>
              <a:sym typeface="Arial"/>
            </a:endParaRPr>
          </a:p>
        </p:txBody>
      </p:sp>
      <p:sp>
        <p:nvSpPr>
          <p:cNvPr id="221" name="Google Shape;221;p15"/>
          <p:cNvSpPr/>
          <p:nvPr/>
        </p:nvSpPr>
        <p:spPr>
          <a:xfrm>
            <a:off x="812800" y="6141740"/>
            <a:ext cx="483997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576"/>
              </a:buClr>
              <a:buSzPts val="1200"/>
              <a:buFont typeface="Arial"/>
              <a:buNone/>
            </a:pPr>
            <a:r>
              <a:rPr b="0" i="0" lang="en-US" sz="1200" u="none" cap="none" strike="noStrike">
                <a:solidFill>
                  <a:srgbClr val="5A6576"/>
                </a:solidFill>
                <a:latin typeface="Arial"/>
                <a:ea typeface="Arial"/>
                <a:cs typeface="Arial"/>
                <a:sym typeface="Arial"/>
              </a:rPr>
              <a:t>Sources: ICMM Global Mining Dataset v1.5 (2026); OCMAL mining-conflict database (conflicts started 1972–2019).</a:t>
            </a:r>
            <a:endParaRPr b="0" i="0" sz="1200" u="none" cap="none" strike="noStrike">
              <a:solidFill>
                <a:schemeClr val="dk1"/>
              </a:solidFill>
              <a:latin typeface="Arial"/>
              <a:ea typeface="Arial"/>
              <a:cs typeface="Arial"/>
              <a:sym typeface="Arial"/>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6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6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6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6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226" name="Shape 226"/>
        <p:cNvGrpSpPr/>
        <p:nvPr/>
      </p:nvGrpSpPr>
      <p:grpSpPr>
        <a:xfrm>
          <a:off x="0" y="0"/>
          <a:ext cx="0" cy="0"/>
          <a:chOff x="0" y="0"/>
          <a:chExt cx="0" cy="0"/>
        </a:xfrm>
      </p:grpSpPr>
      <p:pic>
        <p:nvPicPr>
          <p:cNvPr descr="Map of zoom · the andes: countries and regions" id="227" name="Google Shape;227;p16"/>
          <p:cNvPicPr preferRelativeResize="0"/>
          <p:nvPr/>
        </p:nvPicPr>
        <p:blipFill rotWithShape="1">
          <a:blip r:embed="rId3">
            <a:alphaModFix/>
          </a:blip>
          <a:srcRect b="-36" l="0" r="0" t="-36"/>
          <a:stretch/>
        </p:blipFill>
        <p:spPr>
          <a:xfrm>
            <a:off x="7785100" y="0"/>
            <a:ext cx="4406900" cy="6858000"/>
          </a:xfrm>
          <a:prstGeom prst="rect">
            <a:avLst/>
          </a:prstGeom>
          <a:noFill/>
          <a:ln>
            <a:noFill/>
          </a:ln>
        </p:spPr>
      </p:pic>
      <p:pic>
        <p:nvPicPr>
          <p:cNvPr descr="Large-scale mining sites as dots" id="228" name="Google Shape;228;p16"/>
          <p:cNvPicPr preferRelativeResize="0"/>
          <p:nvPr/>
        </p:nvPicPr>
        <p:blipFill rotWithShape="1">
          <a:blip r:embed="rId4">
            <a:alphaModFix/>
          </a:blip>
          <a:srcRect b="-36" l="0" r="0" t="-36"/>
          <a:stretch/>
        </p:blipFill>
        <p:spPr>
          <a:xfrm>
            <a:off x="7785100" y="0"/>
            <a:ext cx="4406900" cy="6858000"/>
          </a:xfrm>
          <a:prstGeom prst="rect">
            <a:avLst/>
          </a:prstGeom>
          <a:noFill/>
          <a:ln>
            <a:noFill/>
          </a:ln>
        </p:spPr>
      </p:pic>
      <p:pic>
        <p:nvPicPr>
          <p:cNvPr descr="Provinces with mining conflicts, circles sized by number of conflicts" id="229" name="Google Shape;229;p16"/>
          <p:cNvPicPr preferRelativeResize="0"/>
          <p:nvPr/>
        </p:nvPicPr>
        <p:blipFill rotWithShape="1">
          <a:blip r:embed="rId5">
            <a:alphaModFix/>
          </a:blip>
          <a:srcRect b="-36" l="0" r="0" t="-36"/>
          <a:stretch/>
        </p:blipFill>
        <p:spPr>
          <a:xfrm>
            <a:off x="7785100" y="0"/>
            <a:ext cx="4406900" cy="6858000"/>
          </a:xfrm>
          <a:prstGeom prst="rect">
            <a:avLst/>
          </a:prstGeom>
          <a:noFill/>
          <a:ln>
            <a:noFill/>
          </a:ln>
        </p:spPr>
      </p:pic>
      <p:sp>
        <p:nvSpPr>
          <p:cNvPr id="230" name="Google Shape;230;p16"/>
          <p:cNvSpPr/>
          <p:nvPr/>
        </p:nvSpPr>
        <p:spPr>
          <a:xfrm>
            <a:off x="812800" y="711200"/>
            <a:ext cx="65405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392A"/>
              </a:buClr>
              <a:buSzPts val="1200"/>
              <a:buFont typeface="Arial"/>
              <a:buNone/>
            </a:pPr>
            <a:r>
              <a:rPr b="1" i="0" lang="en-US" sz="1200" u="none" cap="none" strike="noStrike">
                <a:solidFill>
                  <a:srgbClr val="B8392A"/>
                </a:solidFill>
                <a:latin typeface="Arial"/>
                <a:ea typeface="Arial"/>
                <a:cs typeface="Arial"/>
                <a:sym typeface="Arial"/>
              </a:rPr>
              <a:t>CONFLICTS · ZOOM ON THE ANDES</a:t>
            </a:r>
            <a:endParaRPr b="0" i="0" sz="1200" u="none" cap="none" strike="noStrike">
              <a:solidFill>
                <a:schemeClr val="dk1"/>
              </a:solidFill>
              <a:latin typeface="Arial"/>
              <a:ea typeface="Arial"/>
              <a:cs typeface="Arial"/>
              <a:sym typeface="Arial"/>
            </a:endParaRPr>
          </a:p>
        </p:txBody>
      </p:sp>
      <p:sp>
        <p:nvSpPr>
          <p:cNvPr id="231" name="Google Shape;231;p16"/>
          <p:cNvSpPr txBox="1"/>
          <p:nvPr>
            <p:ph type="title"/>
          </p:nvPr>
        </p:nvSpPr>
        <p:spPr>
          <a:xfrm>
            <a:off x="812800" y="990600"/>
            <a:ext cx="6540500" cy="8636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02F"/>
              </a:buClr>
              <a:buSzPts val="3000"/>
              <a:buFont typeface="Georgia"/>
              <a:buNone/>
            </a:pPr>
            <a:r>
              <a:rPr b="1" i="0" lang="en-US" sz="3000">
                <a:solidFill>
                  <a:srgbClr val="14202F"/>
                </a:solidFill>
                <a:latin typeface="Georgia"/>
                <a:ea typeface="Georgia"/>
                <a:cs typeface="Georgia"/>
                <a:sym typeface="Georgia"/>
              </a:rPr>
              <a:t>Peru, Chile and Argentina</a:t>
            </a:r>
            <a:endParaRPr sz="3000"/>
          </a:p>
        </p:txBody>
      </p:sp>
      <p:sp>
        <p:nvSpPr>
          <p:cNvPr id="232" name="Google Shape;232;p16"/>
          <p:cNvSpPr/>
          <p:nvPr/>
        </p:nvSpPr>
        <p:spPr>
          <a:xfrm>
            <a:off x="812800" y="2095500"/>
            <a:ext cx="654050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392A"/>
              </a:buClr>
              <a:buSzPts val="1800"/>
              <a:buFont typeface="Arial"/>
              <a:buNone/>
            </a:pPr>
            <a:r>
              <a:rPr b="1" i="0" lang="en-US" sz="1800" u="none" cap="none" strike="noStrike">
                <a:solidFill>
                  <a:srgbClr val="B8392A"/>
                </a:solidFill>
                <a:latin typeface="Arial"/>
                <a:ea typeface="Arial"/>
                <a:cs typeface="Arial"/>
                <a:sym typeface="Arial"/>
              </a:rPr>
              <a:t>1</a:t>
            </a:r>
            <a:r>
              <a:rPr b="1" i="0" lang="en-US" sz="1800" u="none" cap="none" strike="noStrike">
                <a:solidFill>
                  <a:srgbClr val="14202F"/>
                </a:solidFill>
                <a:latin typeface="Arial"/>
                <a:ea typeface="Arial"/>
                <a:cs typeface="Arial"/>
                <a:sym typeface="Arial"/>
              </a:rPr>
              <a:t>  Provinces and regions</a:t>
            </a:r>
            <a:endParaRPr b="0" i="0" sz="1800" u="none" cap="none" strike="noStrike">
              <a:solidFill>
                <a:schemeClr val="dk1"/>
              </a:solidFill>
              <a:latin typeface="Arial"/>
              <a:ea typeface="Arial"/>
              <a:cs typeface="Arial"/>
              <a:sym typeface="Arial"/>
            </a:endParaRPr>
          </a:p>
        </p:txBody>
      </p:sp>
      <p:sp>
        <p:nvSpPr>
          <p:cNvPr id="233" name="Google Shape;233;p16"/>
          <p:cNvSpPr/>
          <p:nvPr/>
        </p:nvSpPr>
        <p:spPr>
          <a:xfrm>
            <a:off x="812800" y="2458690"/>
            <a:ext cx="65405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300"/>
              <a:buFont typeface="Arial"/>
              <a:buNone/>
            </a:pPr>
            <a:r>
              <a:rPr b="0" i="0" lang="en-US" sz="1300" u="none" cap="none" strike="noStrike">
                <a:solidFill>
                  <a:srgbClr val="3F4B5E"/>
                </a:solidFill>
                <a:latin typeface="Arial"/>
                <a:ea typeface="Arial"/>
                <a:cs typeface="Arial"/>
                <a:sym typeface="Arial"/>
              </a:rPr>
              <a:t>Thin lines show the provinces: the unit the conflicts are placed in.</a:t>
            </a:r>
            <a:endParaRPr b="0" i="0" sz="1300" u="none" cap="none" strike="noStrike">
              <a:solidFill>
                <a:schemeClr val="dk1"/>
              </a:solidFill>
              <a:latin typeface="Arial"/>
              <a:ea typeface="Arial"/>
              <a:cs typeface="Arial"/>
              <a:sym typeface="Arial"/>
            </a:endParaRPr>
          </a:p>
        </p:txBody>
      </p:sp>
      <p:sp>
        <p:nvSpPr>
          <p:cNvPr id="234" name="Google Shape;234;p16"/>
          <p:cNvSpPr/>
          <p:nvPr/>
        </p:nvSpPr>
        <p:spPr>
          <a:xfrm>
            <a:off x="812800" y="3048000"/>
            <a:ext cx="654050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392A"/>
              </a:buClr>
              <a:buSzPts val="1800"/>
              <a:buFont typeface="Arial"/>
              <a:buNone/>
            </a:pPr>
            <a:r>
              <a:rPr b="1" i="0" lang="en-US" sz="1800" u="none" cap="none" strike="noStrike">
                <a:solidFill>
                  <a:srgbClr val="B8392A"/>
                </a:solidFill>
                <a:latin typeface="Arial"/>
                <a:ea typeface="Arial"/>
                <a:cs typeface="Arial"/>
                <a:sym typeface="Arial"/>
              </a:rPr>
              <a:t>2</a:t>
            </a:r>
            <a:r>
              <a:rPr b="1" i="0" lang="en-US" sz="1800" u="none" cap="none" strike="noStrike">
                <a:solidFill>
                  <a:srgbClr val="14202F"/>
                </a:solidFill>
                <a:latin typeface="Arial"/>
                <a:ea typeface="Arial"/>
                <a:cs typeface="Arial"/>
                <a:sym typeface="Arial"/>
              </a:rPr>
              <a:t>  260 mining sites in Peru, Chile and Argentina</a:t>
            </a:r>
            <a:endParaRPr b="0" i="0" sz="1800" u="none" cap="none" strike="noStrike">
              <a:solidFill>
                <a:schemeClr val="dk1"/>
              </a:solidFill>
              <a:latin typeface="Arial"/>
              <a:ea typeface="Arial"/>
              <a:cs typeface="Arial"/>
              <a:sym typeface="Arial"/>
            </a:endParaRPr>
          </a:p>
        </p:txBody>
      </p:sp>
      <p:pic>
        <p:nvPicPr>
          <p:cNvPr descr="ellipse" id="235" name="Google Shape;235;p16"/>
          <p:cNvPicPr preferRelativeResize="0"/>
          <p:nvPr/>
        </p:nvPicPr>
        <p:blipFill rotWithShape="1">
          <a:blip r:embed="rId6">
            <a:alphaModFix/>
          </a:blip>
          <a:srcRect b="0" l="0" r="0" t="0"/>
          <a:stretch/>
        </p:blipFill>
        <p:spPr>
          <a:xfrm>
            <a:off x="812800" y="3448000"/>
            <a:ext cx="139700" cy="139700"/>
          </a:xfrm>
          <a:prstGeom prst="rect">
            <a:avLst/>
          </a:prstGeom>
          <a:noFill/>
          <a:ln>
            <a:noFill/>
          </a:ln>
        </p:spPr>
      </p:pic>
      <p:sp>
        <p:nvSpPr>
          <p:cNvPr id="236" name="Google Shape;236;p16"/>
          <p:cNvSpPr/>
          <p:nvPr/>
        </p:nvSpPr>
        <p:spPr>
          <a:xfrm>
            <a:off x="1028700" y="3411190"/>
            <a:ext cx="302702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Critical minerals: copper, silver, zinc, lithium</a:t>
            </a:r>
            <a:endParaRPr b="0" i="0" sz="1200" u="none" cap="none" strike="noStrike">
              <a:solidFill>
                <a:schemeClr val="dk1"/>
              </a:solidFill>
              <a:latin typeface="Arial"/>
              <a:ea typeface="Arial"/>
              <a:cs typeface="Arial"/>
              <a:sym typeface="Arial"/>
            </a:endParaRPr>
          </a:p>
        </p:txBody>
      </p:sp>
      <p:pic>
        <p:nvPicPr>
          <p:cNvPr descr="ellipse" id="237" name="Google Shape;237;p16"/>
          <p:cNvPicPr preferRelativeResize="0"/>
          <p:nvPr/>
        </p:nvPicPr>
        <p:blipFill rotWithShape="1">
          <a:blip r:embed="rId7">
            <a:alphaModFix/>
          </a:blip>
          <a:srcRect b="0" l="0" r="0" t="0"/>
          <a:stretch/>
        </p:blipFill>
        <p:spPr>
          <a:xfrm>
            <a:off x="3967559" y="3448000"/>
            <a:ext cx="139700" cy="139700"/>
          </a:xfrm>
          <a:prstGeom prst="rect">
            <a:avLst/>
          </a:prstGeom>
          <a:noFill/>
          <a:ln>
            <a:noFill/>
          </a:ln>
        </p:spPr>
      </p:pic>
      <p:sp>
        <p:nvSpPr>
          <p:cNvPr id="238" name="Google Shape;238;p16"/>
          <p:cNvSpPr/>
          <p:nvPr/>
        </p:nvSpPr>
        <p:spPr>
          <a:xfrm>
            <a:off x="4183459" y="3411190"/>
            <a:ext cx="37271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Gold</a:t>
            </a:r>
            <a:endParaRPr b="0" i="0" sz="1200" u="none" cap="none" strike="noStrike">
              <a:solidFill>
                <a:schemeClr val="dk1"/>
              </a:solidFill>
              <a:latin typeface="Arial"/>
              <a:ea typeface="Arial"/>
              <a:cs typeface="Arial"/>
              <a:sym typeface="Arial"/>
            </a:endParaRPr>
          </a:p>
        </p:txBody>
      </p:sp>
      <p:pic>
        <p:nvPicPr>
          <p:cNvPr descr="ellipse" id="239" name="Google Shape;239;p16"/>
          <p:cNvPicPr preferRelativeResize="0"/>
          <p:nvPr/>
        </p:nvPicPr>
        <p:blipFill rotWithShape="1">
          <a:blip r:embed="rId8">
            <a:alphaModFix/>
          </a:blip>
          <a:srcRect b="0" l="0" r="0" t="0"/>
          <a:stretch/>
        </p:blipFill>
        <p:spPr>
          <a:xfrm>
            <a:off x="4505375" y="3448000"/>
            <a:ext cx="139700" cy="139700"/>
          </a:xfrm>
          <a:prstGeom prst="rect">
            <a:avLst/>
          </a:prstGeom>
          <a:noFill/>
          <a:ln>
            <a:noFill/>
          </a:ln>
        </p:spPr>
      </p:pic>
      <p:sp>
        <p:nvSpPr>
          <p:cNvPr id="240" name="Google Shape;240;p16"/>
          <p:cNvSpPr/>
          <p:nvPr/>
        </p:nvSpPr>
        <p:spPr>
          <a:xfrm>
            <a:off x="4721275" y="3411190"/>
            <a:ext cx="43194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4B5E"/>
              </a:buClr>
              <a:buSzPts val="1200"/>
              <a:buFont typeface="Arial"/>
              <a:buNone/>
            </a:pPr>
            <a:r>
              <a:rPr b="0" i="0" lang="en-US" sz="1200" u="none" cap="none" strike="noStrike">
                <a:solidFill>
                  <a:srgbClr val="3F4B5E"/>
                </a:solidFill>
                <a:latin typeface="Arial"/>
                <a:ea typeface="Arial"/>
                <a:cs typeface="Arial"/>
                <a:sym typeface="Arial"/>
              </a:rPr>
              <a:t>Other</a:t>
            </a:r>
            <a:endParaRPr b="0" i="0" sz="1200" u="none" cap="none" strike="noStrike">
              <a:solidFill>
                <a:schemeClr val="dk1"/>
              </a:solidFill>
              <a:latin typeface="Arial"/>
              <a:ea typeface="Arial"/>
              <a:cs typeface="Arial"/>
              <a:sym typeface="Arial"/>
            </a:endParaRPr>
          </a:p>
        </p:txBody>
      </p:sp>
      <p:sp>
        <p:nvSpPr>
          <p:cNvPr id="241" name="Google Shape;241;p16"/>
          <p:cNvSpPr/>
          <p:nvPr/>
        </p:nvSpPr>
        <p:spPr>
          <a:xfrm>
            <a:off x="812800" y="4445000"/>
            <a:ext cx="654050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392A"/>
              </a:buClr>
              <a:buSzPts val="1800"/>
              <a:buFont typeface="Arial"/>
              <a:buNone/>
            </a:pPr>
            <a:r>
              <a:rPr b="1" i="0" lang="en-US" sz="1800" u="none" cap="none" strike="noStrike">
                <a:solidFill>
                  <a:srgbClr val="B8392A"/>
                </a:solidFill>
                <a:latin typeface="Arial"/>
                <a:ea typeface="Arial"/>
                <a:cs typeface="Arial"/>
                <a:sym typeface="Arial"/>
              </a:rPr>
              <a:t>3</a:t>
            </a:r>
            <a:r>
              <a:rPr b="1" i="0" lang="en-US" sz="1800" u="none" cap="none" strike="noStrike">
                <a:solidFill>
                  <a:srgbClr val="14202F"/>
                </a:solidFill>
                <a:latin typeface="Arial"/>
                <a:ea typeface="Arial"/>
                <a:cs typeface="Arial"/>
                <a:sym typeface="Arial"/>
              </a:rPr>
              <a:t>  123 conflicts in Peru, Chile and Argentina</a:t>
            </a:r>
            <a:endParaRPr b="0" i="0" sz="1800" u="none" cap="none" strike="noStrike">
              <a:solidFill>
                <a:schemeClr val="dk1"/>
              </a:solidFill>
              <a:latin typeface="Arial"/>
              <a:ea typeface="Arial"/>
              <a:cs typeface="Arial"/>
              <a:sym typeface="Arial"/>
            </a:endParaRPr>
          </a:p>
        </p:txBody>
      </p:sp>
      <p:sp>
        <p:nvSpPr>
          <p:cNvPr id="242" name="Google Shape;242;p16"/>
          <p:cNvSpPr/>
          <p:nvPr/>
        </p:nvSpPr>
        <p:spPr>
          <a:xfrm>
            <a:off x="812800" y="4808190"/>
            <a:ext cx="6350000" cy="690860"/>
          </a:xfrm>
          <a:prstGeom prst="roundRect">
            <a:avLst>
              <a:gd fmla="val 5515" name="adj"/>
            </a:avLst>
          </a:prstGeom>
          <a:solidFill>
            <a:srgbClr val="FFFFFF"/>
          </a:solidFill>
          <a:ln>
            <a:noFill/>
          </a:ln>
        </p:spPr>
        <p:txBody>
          <a:bodyPr anchorCtr="0" anchor="t" bIns="77725" lIns="153925" spcFirstLastPara="1" rIns="0" wrap="square" tIns="103125">
            <a:noAutofit/>
          </a:bodyPr>
          <a:lstStyle/>
          <a:p>
            <a:pPr indent="0" lvl="0" marL="0" marR="0" rtl="0" algn="l">
              <a:lnSpc>
                <a:spcPct val="140000"/>
              </a:lnSpc>
              <a:spcBef>
                <a:spcPts val="0"/>
              </a:spcBef>
              <a:spcAft>
                <a:spcPts val="0"/>
              </a:spcAft>
              <a:buClr>
                <a:srgbClr val="14202F"/>
              </a:buClr>
              <a:buSzPts val="1300"/>
              <a:buFont typeface="Arial"/>
              <a:buNone/>
            </a:pPr>
            <a:r>
              <a:rPr b="0" i="0" lang="en-US" sz="1300" u="none" cap="none" strike="noStrike">
                <a:solidFill>
                  <a:srgbClr val="14202F"/>
                </a:solidFill>
                <a:latin typeface="Arial"/>
                <a:ea typeface="Arial"/>
                <a:cs typeface="Arial"/>
                <a:sym typeface="Arial"/>
              </a:rPr>
              <a:t>Coquimbo (Chile) has 12 conflicts, more than any province in Latin America. Next door, Atacama and Antofagasta hold 69 mining sites and 14 conflicts.</a:t>
            </a:r>
            <a:endParaRPr b="0" i="0" sz="1300" u="none" cap="none" strike="noStrike">
              <a:solidFill>
                <a:schemeClr val="dk1"/>
              </a:solidFill>
              <a:latin typeface="Arial"/>
              <a:ea typeface="Arial"/>
              <a:cs typeface="Arial"/>
              <a:sym typeface="Arial"/>
            </a:endParaRPr>
          </a:p>
        </p:txBody>
      </p:sp>
      <p:sp>
        <p:nvSpPr>
          <p:cNvPr id="243" name="Google Shape;243;p16"/>
          <p:cNvSpPr/>
          <p:nvPr/>
        </p:nvSpPr>
        <p:spPr>
          <a:xfrm>
            <a:off x="812800" y="4808190"/>
            <a:ext cx="6350000" cy="690860"/>
          </a:xfrm>
          <a:custGeom>
            <a:rect b="b" l="l" r="r" t="t"/>
            <a:pathLst>
              <a:path extrusionOk="0" h="690860" w="6350000">
                <a:moveTo>
                  <a:pt x="38100" y="690860"/>
                </a:moveTo>
                <a:lnTo>
                  <a:pt x="38100" y="690860"/>
                </a:lnTo>
                <a:cubicBezTo>
                  <a:pt x="17058" y="690860"/>
                  <a:pt x="0" y="673802"/>
                  <a:pt x="0" y="652760"/>
                </a:cubicBezTo>
                <a:lnTo>
                  <a:pt x="0" y="38100"/>
                </a:lnTo>
                <a:cubicBezTo>
                  <a:pt x="0" y="17058"/>
                  <a:pt x="17058" y="0"/>
                  <a:pt x="38100" y="0"/>
                </a:cubicBezTo>
                <a:lnTo>
                  <a:pt x="38100" y="0"/>
                </a:lnTo>
                <a:cubicBezTo>
                  <a:pt x="31086" y="0"/>
                  <a:pt x="25400" y="17058"/>
                  <a:pt x="25400" y="38100"/>
                </a:cubicBezTo>
                <a:lnTo>
                  <a:pt x="25400" y="652760"/>
                </a:lnTo>
                <a:cubicBezTo>
                  <a:pt x="25400" y="662865"/>
                  <a:pt x="26738" y="672556"/>
                  <a:pt x="29120" y="679701"/>
                </a:cubicBezTo>
                <a:cubicBezTo>
                  <a:pt x="31501" y="686846"/>
                  <a:pt x="34732" y="690860"/>
                  <a:pt x="38100" y="690860"/>
                </a:cubicBezTo>
                <a:close/>
              </a:path>
            </a:pathLst>
          </a:custGeom>
          <a:solidFill>
            <a:srgbClr val="B8392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4" name="Google Shape;244;p16"/>
          <p:cNvSpPr/>
          <p:nvPr/>
        </p:nvSpPr>
        <p:spPr>
          <a:xfrm>
            <a:off x="812800" y="6141740"/>
            <a:ext cx="65405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576"/>
              </a:buClr>
              <a:buSzPts val="1200"/>
              <a:buFont typeface="Arial"/>
              <a:buNone/>
            </a:pPr>
            <a:r>
              <a:rPr b="0" i="0" lang="en-US" sz="1200" u="none" cap="none" strike="noStrike">
                <a:solidFill>
                  <a:srgbClr val="5A6576"/>
                </a:solidFill>
                <a:latin typeface="Arial"/>
                <a:ea typeface="Arial"/>
                <a:cs typeface="Arial"/>
                <a:sym typeface="Arial"/>
              </a:rPr>
              <a:t>Sources: ICMM Global Mining Dataset v1.5 (2026); OCMAL mining-conflict database (conflicts started 1972–2019).</a:t>
            </a:r>
            <a:endParaRPr b="0" i="0" sz="1200" u="none" cap="none" strike="noStrike">
              <a:solidFill>
                <a:schemeClr val="dk1"/>
              </a:solidFill>
              <a:latin typeface="Arial"/>
              <a:ea typeface="Arial"/>
              <a:cs typeface="Arial"/>
              <a:sym typeface="Arial"/>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6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6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6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6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D5E2"/>
        </a:solidFill>
      </p:bgPr>
    </p:bg>
    <p:spTree>
      <p:nvGrpSpPr>
        <p:cNvPr id="249" name="Shape 249"/>
        <p:cNvGrpSpPr/>
        <p:nvPr/>
      </p:nvGrpSpPr>
      <p:grpSpPr>
        <a:xfrm>
          <a:off x="0" y="0"/>
          <a:ext cx="0" cy="0"/>
          <a:chOff x="0" y="0"/>
          <a:chExt cx="0" cy="0"/>
        </a:xfrm>
      </p:grpSpPr>
      <p:sp>
        <p:nvSpPr>
          <p:cNvPr id="250" name="Google Shape;250;p17"/>
          <p:cNvSpPr txBox="1"/>
          <p:nvPr/>
        </p:nvSpPr>
        <p:spPr>
          <a:xfrm>
            <a:off x="812901" y="812901"/>
            <a:ext cx="914400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00" u="none" cap="none" strike="noStrike">
                <a:solidFill>
                  <a:srgbClr val="B8392A"/>
                </a:solidFill>
                <a:latin typeface="Arial"/>
                <a:ea typeface="Arial"/>
                <a:cs typeface="Arial"/>
                <a:sym typeface="Arial"/>
              </a:rPr>
              <a:t>DEEP DIVE · ENVIRONMENTAL DEFENDERS</a:t>
            </a:r>
            <a:endParaRPr/>
          </a:p>
        </p:txBody>
      </p:sp>
      <p:sp>
        <p:nvSpPr>
          <p:cNvPr id="251" name="Google Shape;251;p17"/>
          <p:cNvSpPr txBox="1"/>
          <p:nvPr/>
        </p:nvSpPr>
        <p:spPr>
          <a:xfrm>
            <a:off x="812901" y="2011680"/>
            <a:ext cx="10241280" cy="23774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4000" u="none" cap="none" strike="noStrike">
                <a:solidFill>
                  <a:srgbClr val="14202F"/>
                </a:solidFill>
                <a:latin typeface="Georgia"/>
                <a:ea typeface="Georgia"/>
                <a:cs typeface="Georgia"/>
                <a:sym typeface="Georgia"/>
              </a:rPr>
              <a:t>Do </a:t>
            </a:r>
            <a:r>
              <a:rPr b="1" i="0" lang="en-US" sz="4000" u="none" cap="none" strike="noStrike">
                <a:solidFill>
                  <a:srgbClr val="B8392A"/>
                </a:solidFill>
                <a:latin typeface="Georgia"/>
                <a:ea typeface="Georgia"/>
                <a:cs typeface="Georgia"/>
                <a:sym typeface="Georgia"/>
              </a:rPr>
              <a:t>resource-rich countries</a:t>
            </a:r>
            <a:r>
              <a:rPr b="1" i="0" lang="en-US" sz="4000" u="none" cap="none" strike="noStrike">
                <a:solidFill>
                  <a:srgbClr val="14202F"/>
                </a:solidFill>
                <a:latin typeface="Georgia"/>
                <a:ea typeface="Georgia"/>
                <a:cs typeface="Georgia"/>
                <a:sym typeface="Georgia"/>
              </a:rPr>
              <a:t> in Latin America see more </a:t>
            </a:r>
            <a:r>
              <a:rPr b="1" i="0" lang="en-US" sz="4000" u="none" cap="none" strike="noStrike">
                <a:solidFill>
                  <a:srgbClr val="B8392A"/>
                </a:solidFill>
                <a:latin typeface="Georgia"/>
                <a:ea typeface="Georgia"/>
                <a:cs typeface="Georgia"/>
                <a:sym typeface="Georgia"/>
              </a:rPr>
              <a:t>killings of environmental defenders</a:t>
            </a:r>
            <a:r>
              <a:rPr b="1" i="0" lang="en-US" sz="4000" u="none" cap="none" strike="noStrike">
                <a:solidFill>
                  <a:srgbClr val="14202F"/>
                </a:solidFill>
                <a:latin typeface="Georgia"/>
                <a:ea typeface="Georgia"/>
                <a:cs typeface="Georgia"/>
                <a:sym typeface="Georgia"/>
              </a:rPr>
              <a:t>?</a:t>
            </a:r>
            <a:endParaRPr/>
          </a:p>
        </p:txBody>
      </p:sp>
      <p:sp>
        <p:nvSpPr>
          <p:cNvPr id="252" name="Google Shape;252;p17"/>
          <p:cNvSpPr txBox="1"/>
          <p:nvPr/>
        </p:nvSpPr>
        <p:spPr>
          <a:xfrm>
            <a:off x="812901" y="4572000"/>
            <a:ext cx="1024128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600" u="none" cap="none" strike="noStrike">
                <a:solidFill>
                  <a:srgbClr val="3F4B5E"/>
                </a:solidFill>
                <a:latin typeface="Arial"/>
                <a:ea typeface="Arial"/>
                <a:cs typeface="Arial"/>
                <a:sym typeface="Arial"/>
              </a:rPr>
              <a:t>Our research question · data: Global Witness, 2012–2025</a:t>
            </a:r>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257" name="Shape 257"/>
        <p:cNvGrpSpPr/>
        <p:nvPr/>
      </p:nvGrpSpPr>
      <p:grpSpPr>
        <a:xfrm>
          <a:off x="0" y="0"/>
          <a:ext cx="0" cy="0"/>
          <a:chOff x="0" y="0"/>
          <a:chExt cx="0" cy="0"/>
        </a:xfrm>
      </p:grpSpPr>
      <p:sp>
        <p:nvSpPr>
          <p:cNvPr id="258" name="Google Shape;258;p18"/>
          <p:cNvSpPr txBox="1"/>
          <p:nvPr/>
        </p:nvSpPr>
        <p:spPr>
          <a:xfrm>
            <a:off x="812901" y="541601"/>
            <a:ext cx="105660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DEEP DIVE 1/2 · ENVIRONMENTAL DEFENDERS</a:t>
            </a:r>
            <a:endParaRPr b="0" i="0" sz="1400" u="none" cap="none" strike="noStrike">
              <a:solidFill>
                <a:srgbClr val="000000"/>
              </a:solidFill>
              <a:latin typeface="Arial"/>
              <a:ea typeface="Arial"/>
              <a:cs typeface="Arial"/>
              <a:sym typeface="Arial"/>
            </a:endParaRPr>
          </a:p>
        </p:txBody>
      </p:sp>
      <p:sp>
        <p:nvSpPr>
          <p:cNvPr id="259" name="Google Shape;259;p18"/>
          <p:cNvSpPr txBox="1"/>
          <p:nvPr/>
        </p:nvSpPr>
        <p:spPr>
          <a:xfrm>
            <a:off x="812901" y="901355"/>
            <a:ext cx="10566000" cy="1043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Mining is the </a:t>
            </a:r>
            <a:r>
              <a:rPr b="1" i="0" lang="en-US" sz="3600" u="none" cap="none" strike="noStrike">
                <a:solidFill>
                  <a:srgbClr val="14202F"/>
                </a:solidFill>
                <a:latin typeface="Georgia"/>
                <a:ea typeface="Georgia"/>
                <a:cs typeface="Georgia"/>
                <a:sym typeface="Georgia"/>
              </a:rPr>
              <a:t>2</a:t>
            </a:r>
            <a:r>
              <a:rPr b="1" i="0" lang="en-US" sz="3000" u="none" cap="none" strike="noStrike">
                <a:solidFill>
                  <a:srgbClr val="14202F"/>
                </a:solidFill>
                <a:latin typeface="Georgia"/>
                <a:ea typeface="Georgia"/>
                <a:cs typeface="Georgia"/>
                <a:sym typeface="Georgia"/>
              </a:rPr>
              <a:t>nd most important driver behind the killings of environmental defenders.</a:t>
            </a:r>
            <a:endParaRPr b="0" i="0" sz="1400" u="none" cap="none" strike="noStrike">
              <a:solidFill>
                <a:srgbClr val="000000"/>
              </a:solidFill>
              <a:latin typeface="Arial"/>
              <a:ea typeface="Arial"/>
              <a:cs typeface="Arial"/>
              <a:sym typeface="Arial"/>
            </a:endParaRPr>
          </a:p>
        </p:txBody>
      </p:sp>
      <p:pic>
        <p:nvPicPr>
          <p:cNvPr descr="c_kill_all.png" id="260" name="Google Shape;260;p18"/>
          <p:cNvPicPr preferRelativeResize="0"/>
          <p:nvPr/>
        </p:nvPicPr>
        <p:blipFill rotWithShape="1">
          <a:blip r:embed="rId3">
            <a:alphaModFix/>
          </a:blip>
          <a:srcRect b="0" l="0" r="0" t="0"/>
          <a:stretch/>
        </p:blipFill>
        <p:spPr>
          <a:xfrm>
            <a:off x="812901" y="2697480"/>
            <a:ext cx="5008626" cy="3154680"/>
          </a:xfrm>
          <a:prstGeom prst="rect">
            <a:avLst/>
          </a:prstGeom>
          <a:noFill/>
          <a:ln>
            <a:noFill/>
          </a:ln>
        </p:spPr>
      </p:pic>
      <p:sp>
        <p:nvSpPr>
          <p:cNvPr id="261" name="Google Shape;261;p18"/>
          <p:cNvSpPr txBox="1"/>
          <p:nvPr/>
        </p:nvSpPr>
        <p:spPr>
          <a:xfrm>
            <a:off x="812901" y="2286000"/>
            <a:ext cx="500862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All killings of defenders, 2012–2025: 1,722</a:t>
            </a:r>
            <a:endParaRPr b="0" i="0" sz="1400" u="none" cap="none" strike="noStrike">
              <a:solidFill>
                <a:srgbClr val="000000"/>
              </a:solidFill>
              <a:latin typeface="Arial"/>
              <a:ea typeface="Arial"/>
              <a:cs typeface="Arial"/>
              <a:sym typeface="Arial"/>
            </a:endParaRPr>
          </a:p>
        </p:txBody>
      </p:sp>
      <p:pic>
        <p:nvPicPr>
          <p:cNvPr descr="c_kill_mining.png" id="262" name="Google Shape;262;p18"/>
          <p:cNvPicPr preferRelativeResize="0"/>
          <p:nvPr/>
        </p:nvPicPr>
        <p:blipFill rotWithShape="1">
          <a:blip r:embed="rId4">
            <a:alphaModFix/>
          </a:blip>
          <a:srcRect b="0" l="0" r="0" t="0"/>
          <a:stretch/>
        </p:blipFill>
        <p:spPr>
          <a:xfrm>
            <a:off x="6370168" y="2697480"/>
            <a:ext cx="5008626" cy="3154680"/>
          </a:xfrm>
          <a:prstGeom prst="rect">
            <a:avLst/>
          </a:prstGeom>
          <a:noFill/>
          <a:ln>
            <a:noFill/>
          </a:ln>
        </p:spPr>
      </p:pic>
      <p:sp>
        <p:nvSpPr>
          <p:cNvPr id="263" name="Google Shape;263;p18"/>
          <p:cNvSpPr txBox="1"/>
          <p:nvPr/>
        </p:nvSpPr>
        <p:spPr>
          <a:xfrm>
            <a:off x="6370167" y="2286000"/>
            <a:ext cx="500862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Linked to mining &amp; extractives: 200 (12 %)</a:t>
            </a:r>
            <a:endParaRPr b="0" i="0" sz="1400" u="none" cap="none" strike="noStrike">
              <a:solidFill>
                <a:srgbClr val="000000"/>
              </a:solidFill>
              <a:latin typeface="Arial"/>
              <a:ea typeface="Arial"/>
              <a:cs typeface="Arial"/>
              <a:sym typeface="Arial"/>
            </a:endParaRPr>
          </a:p>
        </p:txBody>
      </p:sp>
      <p:sp>
        <p:nvSpPr>
          <p:cNvPr id="264" name="Google Shape;264;p18"/>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Global Witness land and environmental defenders data, 2012–2025, Latin America (USA and Canada excluded). One industry driver per case.</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269" name="Shape 269"/>
        <p:cNvGrpSpPr/>
        <p:nvPr/>
      </p:nvGrpSpPr>
      <p:grpSpPr>
        <a:xfrm>
          <a:off x="0" y="0"/>
          <a:ext cx="0" cy="0"/>
          <a:chOff x="0" y="0"/>
          <a:chExt cx="0" cy="0"/>
        </a:xfrm>
      </p:grpSpPr>
      <p:sp>
        <p:nvSpPr>
          <p:cNvPr id="270" name="Google Shape;270;p19"/>
          <p:cNvSpPr txBox="1"/>
          <p:nvPr/>
        </p:nvSpPr>
        <p:spPr>
          <a:xfrm>
            <a:off x="812901" y="812901"/>
            <a:ext cx="10565893" cy="2468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DEEP DIVE 2/2 · DEFENDERS VS CONFLICTS</a:t>
            </a:r>
            <a:endParaRPr b="0" i="0" sz="1400" u="none" cap="none" strike="noStrike">
              <a:solidFill>
                <a:srgbClr val="000000"/>
              </a:solidFill>
              <a:latin typeface="Arial"/>
              <a:ea typeface="Arial"/>
              <a:cs typeface="Arial"/>
              <a:sym typeface="Arial"/>
            </a:endParaRPr>
          </a:p>
        </p:txBody>
      </p:sp>
      <p:sp>
        <p:nvSpPr>
          <p:cNvPr id="271" name="Google Shape;271;p19"/>
          <p:cNvSpPr txBox="1"/>
          <p:nvPr/>
        </p:nvSpPr>
        <p:spPr>
          <a:xfrm>
            <a:off x="812901" y="1127455"/>
            <a:ext cx="10565893" cy="868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Where mining is contested is not always where defenders die</a:t>
            </a:r>
            <a:endParaRPr b="0" i="0" sz="1400" u="none" cap="none" strike="noStrike">
              <a:solidFill>
                <a:srgbClr val="000000"/>
              </a:solidFill>
              <a:latin typeface="Arial"/>
              <a:ea typeface="Arial"/>
              <a:cs typeface="Arial"/>
              <a:sym typeface="Arial"/>
            </a:endParaRPr>
          </a:p>
        </p:txBody>
      </p:sp>
      <p:pic>
        <p:nvPicPr>
          <p:cNvPr descr="c_share.png" id="272" name="Google Shape;272;p19"/>
          <p:cNvPicPr preferRelativeResize="0"/>
          <p:nvPr/>
        </p:nvPicPr>
        <p:blipFill rotWithShape="1">
          <a:blip r:embed="rId3">
            <a:alphaModFix/>
          </a:blip>
          <a:srcRect b="0" l="0" r="0" t="0"/>
          <a:stretch/>
        </p:blipFill>
        <p:spPr>
          <a:xfrm>
            <a:off x="812901" y="2697480"/>
            <a:ext cx="5008626" cy="3154680"/>
          </a:xfrm>
          <a:prstGeom prst="rect">
            <a:avLst/>
          </a:prstGeom>
          <a:noFill/>
          <a:ln>
            <a:noFill/>
          </a:ln>
        </p:spPr>
      </p:pic>
      <p:sp>
        <p:nvSpPr>
          <p:cNvPr id="273" name="Google Shape;273;p19"/>
          <p:cNvSpPr txBox="1"/>
          <p:nvPr/>
        </p:nvSpPr>
        <p:spPr>
          <a:xfrm>
            <a:off x="812901" y="2286000"/>
            <a:ext cx="500862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Share of Latin American total, %</a:t>
            </a:r>
            <a:endParaRPr b="0" i="0" sz="1400" u="none" cap="none" strike="noStrike">
              <a:solidFill>
                <a:srgbClr val="000000"/>
              </a:solidFill>
              <a:latin typeface="Arial"/>
              <a:ea typeface="Arial"/>
              <a:cs typeface="Arial"/>
              <a:sym typeface="Arial"/>
            </a:endParaRPr>
          </a:p>
        </p:txBody>
      </p:sp>
      <p:pic>
        <p:nvPicPr>
          <p:cNvPr descr="c_years.png" id="274" name="Google Shape;274;p19"/>
          <p:cNvPicPr preferRelativeResize="0"/>
          <p:nvPr/>
        </p:nvPicPr>
        <p:blipFill rotWithShape="1">
          <a:blip r:embed="rId4">
            <a:alphaModFix/>
          </a:blip>
          <a:srcRect b="0" l="0" r="0" t="0"/>
          <a:stretch/>
        </p:blipFill>
        <p:spPr>
          <a:xfrm>
            <a:off x="6370168" y="2697480"/>
            <a:ext cx="5008626" cy="3154680"/>
          </a:xfrm>
          <a:prstGeom prst="rect">
            <a:avLst/>
          </a:prstGeom>
          <a:noFill/>
          <a:ln>
            <a:noFill/>
          </a:ln>
        </p:spPr>
      </p:pic>
      <p:sp>
        <p:nvSpPr>
          <p:cNvPr id="275" name="Google Shape;275;p19"/>
          <p:cNvSpPr txBox="1"/>
          <p:nvPr/>
        </p:nvSpPr>
        <p:spPr>
          <a:xfrm>
            <a:off x="6370167" y="2286000"/>
            <a:ext cx="500862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4202F"/>
                </a:solidFill>
                <a:latin typeface="Arial"/>
                <a:ea typeface="Arial"/>
                <a:cs typeface="Arial"/>
                <a:sym typeface="Arial"/>
              </a:rPr>
              <a:t>Killings per year by industry driver, Americas</a:t>
            </a:r>
            <a:endParaRPr b="0" i="0" sz="1400" u="none" cap="none" strike="noStrike">
              <a:solidFill>
                <a:srgbClr val="000000"/>
              </a:solidFill>
              <a:latin typeface="Arial"/>
              <a:ea typeface="Arial"/>
              <a:cs typeface="Arial"/>
              <a:sym typeface="Arial"/>
            </a:endParaRPr>
          </a:p>
        </p:txBody>
      </p:sp>
      <p:sp>
        <p:nvSpPr>
          <p:cNvPr id="276" name="Google Shape;276;p19"/>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Global Witness 2012–2025 (Americas, incl. 3 cases in USA/Canada); OCMAL conflicts 1972–2019. Left: Spearman ρ = 0.35 (p = 0.19), 16 countries.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D5E2"/>
        </a:solidFill>
      </p:bgPr>
    </p:bg>
    <p:spTree>
      <p:nvGrpSpPr>
        <p:cNvPr id="281" name="Shape 281"/>
        <p:cNvGrpSpPr/>
        <p:nvPr/>
      </p:nvGrpSpPr>
      <p:grpSpPr>
        <a:xfrm>
          <a:off x="0" y="0"/>
          <a:ext cx="0" cy="0"/>
          <a:chOff x="0" y="0"/>
          <a:chExt cx="0" cy="0"/>
        </a:xfrm>
      </p:grpSpPr>
      <p:sp>
        <p:nvSpPr>
          <p:cNvPr id="282" name="Google Shape;282;p20"/>
          <p:cNvSpPr txBox="1"/>
          <p:nvPr/>
        </p:nvSpPr>
        <p:spPr>
          <a:xfrm>
            <a:off x="812901" y="812901"/>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PART 04 OF 04</a:t>
            </a:r>
            <a:endParaRPr b="0" i="0" sz="1400" u="none" cap="none" strike="noStrike">
              <a:solidFill>
                <a:srgbClr val="000000"/>
              </a:solidFill>
              <a:latin typeface="Arial"/>
              <a:ea typeface="Arial"/>
              <a:cs typeface="Arial"/>
              <a:sym typeface="Arial"/>
            </a:endParaRPr>
          </a:p>
        </p:txBody>
      </p:sp>
      <p:sp>
        <p:nvSpPr>
          <p:cNvPr id="283" name="Google Shape;283;p20"/>
          <p:cNvSpPr txBox="1"/>
          <p:nvPr/>
        </p:nvSpPr>
        <p:spPr>
          <a:xfrm>
            <a:off x="812901" y="1828800"/>
            <a:ext cx="365760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0"/>
              <a:buFont typeface="Arial"/>
              <a:buNone/>
            </a:pPr>
            <a:r>
              <a:rPr b="1" i="0" lang="en-US" sz="11000" u="none" cap="none" strike="noStrike">
                <a:solidFill>
                  <a:srgbClr val="B8392A"/>
                </a:solidFill>
                <a:latin typeface="Georgia"/>
                <a:ea typeface="Georgia"/>
                <a:cs typeface="Georgia"/>
                <a:sym typeface="Georgia"/>
              </a:rPr>
              <a:t>04</a:t>
            </a:r>
            <a:endParaRPr b="0" i="0" sz="1400" u="none" cap="none" strike="noStrike">
              <a:solidFill>
                <a:srgbClr val="000000"/>
              </a:solidFill>
              <a:latin typeface="Arial"/>
              <a:ea typeface="Arial"/>
              <a:cs typeface="Arial"/>
              <a:sym typeface="Arial"/>
            </a:endParaRPr>
          </a:p>
        </p:txBody>
      </p:sp>
      <p:sp>
        <p:nvSpPr>
          <p:cNvPr id="284" name="Google Shape;284;p20"/>
          <p:cNvSpPr txBox="1"/>
          <p:nvPr/>
        </p:nvSpPr>
        <p:spPr>
          <a:xfrm>
            <a:off x="812901" y="3429000"/>
            <a:ext cx="96012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14202F"/>
                </a:solidFill>
                <a:latin typeface="Georgia"/>
                <a:ea typeface="Georgia"/>
                <a:cs typeface="Georgia"/>
                <a:sym typeface="Georgia"/>
              </a:rPr>
              <a:t>Conclusions</a:t>
            </a:r>
            <a:endParaRPr b="0" i="0" sz="1400" u="none" cap="none" strike="noStrike">
              <a:solidFill>
                <a:srgbClr val="000000"/>
              </a:solidFill>
              <a:latin typeface="Arial"/>
              <a:ea typeface="Arial"/>
              <a:cs typeface="Arial"/>
              <a:sym typeface="Arial"/>
            </a:endParaRPr>
          </a:p>
        </p:txBody>
      </p:sp>
      <p:sp>
        <p:nvSpPr>
          <p:cNvPr id="285" name="Google Shape;285;p20"/>
          <p:cNvSpPr txBox="1"/>
          <p:nvPr/>
        </p:nvSpPr>
        <p:spPr>
          <a:xfrm>
            <a:off x="812901" y="4343400"/>
            <a:ext cx="96012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3F4B5E"/>
                </a:solidFill>
                <a:latin typeface="Arial"/>
                <a:ea typeface="Arial"/>
                <a:cs typeface="Arial"/>
                <a:sym typeface="Arial"/>
              </a:rPr>
              <a:t>What the data supports, and what stays open</a:t>
            </a:r>
            <a:endParaRPr b="0" i="0" sz="1400" u="none" cap="none" strike="noStrike">
              <a:solidFill>
                <a:srgbClr val="000000"/>
              </a:solidFill>
              <a:latin typeface="Arial"/>
              <a:ea typeface="Arial"/>
              <a:cs typeface="Arial"/>
              <a:sym typeface="Arial"/>
            </a:endParaRPr>
          </a:p>
        </p:txBody>
      </p:sp>
      <p:sp>
        <p:nvSpPr>
          <p:cNvPr id="286" name="Google Shape;286;p20"/>
          <p:cNvSpPr/>
          <p:nvPr/>
        </p:nvSpPr>
        <p:spPr>
          <a:xfrm>
            <a:off x="812901" y="5623560"/>
            <a:ext cx="2370580" cy="54864"/>
          </a:xfrm>
          <a:prstGeom prst="rect">
            <a:avLst/>
          </a:prstGeom>
          <a:solidFill>
            <a:srgbClr val="3F4B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0"/>
          <p:cNvSpPr txBox="1"/>
          <p:nvPr/>
        </p:nvSpPr>
        <p:spPr>
          <a:xfrm>
            <a:off x="812901"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F4B5E"/>
                </a:solidFill>
                <a:latin typeface="Arial"/>
                <a:ea typeface="Arial"/>
                <a:cs typeface="Arial"/>
                <a:sym typeface="Arial"/>
              </a:rPr>
              <a:t>01  Intro</a:t>
            </a:r>
            <a:endParaRPr b="0" i="0" sz="1400" u="none" cap="none" strike="noStrike">
              <a:solidFill>
                <a:srgbClr val="000000"/>
              </a:solidFill>
              <a:latin typeface="Arial"/>
              <a:ea typeface="Arial"/>
              <a:cs typeface="Arial"/>
              <a:sym typeface="Arial"/>
            </a:endParaRPr>
          </a:p>
        </p:txBody>
      </p:sp>
      <p:sp>
        <p:nvSpPr>
          <p:cNvPr id="288" name="Google Shape;288;p20"/>
          <p:cNvSpPr/>
          <p:nvPr/>
        </p:nvSpPr>
        <p:spPr>
          <a:xfrm>
            <a:off x="3293209" y="5623560"/>
            <a:ext cx="2370580" cy="54864"/>
          </a:xfrm>
          <a:prstGeom prst="rect">
            <a:avLst/>
          </a:prstGeom>
          <a:solidFill>
            <a:srgbClr val="3F4B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0"/>
          <p:cNvSpPr txBox="1"/>
          <p:nvPr/>
        </p:nvSpPr>
        <p:spPr>
          <a:xfrm>
            <a:off x="3293209"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F4B5E"/>
                </a:solidFill>
                <a:latin typeface="Arial"/>
                <a:ea typeface="Arial"/>
                <a:cs typeface="Arial"/>
                <a:sym typeface="Arial"/>
              </a:rPr>
              <a:t>02  Production &amp; sites</a:t>
            </a:r>
            <a:endParaRPr b="0" i="0" sz="1400" u="none" cap="none" strike="noStrike">
              <a:solidFill>
                <a:srgbClr val="000000"/>
              </a:solidFill>
              <a:latin typeface="Arial"/>
              <a:ea typeface="Arial"/>
              <a:cs typeface="Arial"/>
              <a:sym typeface="Arial"/>
            </a:endParaRPr>
          </a:p>
        </p:txBody>
      </p:sp>
      <p:sp>
        <p:nvSpPr>
          <p:cNvPr id="290" name="Google Shape;290;p20"/>
          <p:cNvSpPr/>
          <p:nvPr/>
        </p:nvSpPr>
        <p:spPr>
          <a:xfrm>
            <a:off x="5773517" y="5623560"/>
            <a:ext cx="2370580" cy="54864"/>
          </a:xfrm>
          <a:prstGeom prst="rect">
            <a:avLst/>
          </a:prstGeom>
          <a:solidFill>
            <a:srgbClr val="3F4B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0"/>
          <p:cNvSpPr txBox="1"/>
          <p:nvPr/>
        </p:nvSpPr>
        <p:spPr>
          <a:xfrm>
            <a:off x="5773517"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F4B5E"/>
                </a:solidFill>
                <a:latin typeface="Arial"/>
                <a:ea typeface="Arial"/>
                <a:cs typeface="Arial"/>
                <a:sym typeface="Arial"/>
              </a:rPr>
              <a:t>03  Conflicts &amp; abuses</a:t>
            </a:r>
            <a:endParaRPr b="0" i="0" sz="1400" u="none" cap="none" strike="noStrike">
              <a:solidFill>
                <a:srgbClr val="000000"/>
              </a:solidFill>
              <a:latin typeface="Arial"/>
              <a:ea typeface="Arial"/>
              <a:cs typeface="Arial"/>
              <a:sym typeface="Arial"/>
            </a:endParaRPr>
          </a:p>
        </p:txBody>
      </p:sp>
      <p:sp>
        <p:nvSpPr>
          <p:cNvPr id="292" name="Google Shape;292;p20"/>
          <p:cNvSpPr/>
          <p:nvPr/>
        </p:nvSpPr>
        <p:spPr>
          <a:xfrm>
            <a:off x="8253825" y="5623560"/>
            <a:ext cx="2370580" cy="54864"/>
          </a:xfrm>
          <a:prstGeom prst="rect">
            <a:avLst/>
          </a:prstGeom>
          <a:solidFill>
            <a:srgbClr val="B8392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0"/>
          <p:cNvSpPr txBox="1"/>
          <p:nvPr/>
        </p:nvSpPr>
        <p:spPr>
          <a:xfrm>
            <a:off x="8253825" y="5760720"/>
            <a:ext cx="23705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202F"/>
                </a:solidFill>
                <a:latin typeface="Arial"/>
                <a:ea typeface="Arial"/>
                <a:cs typeface="Arial"/>
                <a:sym typeface="Arial"/>
              </a:rPr>
              <a:t>04  Conclusions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298" name="Shape 298"/>
        <p:cNvGrpSpPr/>
        <p:nvPr/>
      </p:nvGrpSpPr>
      <p:grpSpPr>
        <a:xfrm>
          <a:off x="0" y="0"/>
          <a:ext cx="0" cy="0"/>
          <a:chOff x="0" y="0"/>
          <a:chExt cx="0" cy="0"/>
        </a:xfrm>
      </p:grpSpPr>
      <p:sp>
        <p:nvSpPr>
          <p:cNvPr id="299" name="Google Shape;299;p21"/>
          <p:cNvSpPr txBox="1"/>
          <p:nvPr/>
        </p:nvSpPr>
        <p:spPr>
          <a:xfrm>
            <a:off x="812901" y="812901"/>
            <a:ext cx="10565893" cy="2468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CONCLUSIONS</a:t>
            </a:r>
            <a:endParaRPr b="0" i="0" sz="1400" u="none" cap="none" strike="noStrike">
              <a:solidFill>
                <a:srgbClr val="000000"/>
              </a:solidFill>
              <a:latin typeface="Arial"/>
              <a:ea typeface="Arial"/>
              <a:cs typeface="Arial"/>
              <a:sym typeface="Arial"/>
            </a:endParaRPr>
          </a:p>
        </p:txBody>
      </p:sp>
      <p:sp>
        <p:nvSpPr>
          <p:cNvPr id="300" name="Google Shape;300;p21"/>
          <p:cNvSpPr txBox="1"/>
          <p:nvPr/>
        </p:nvSpPr>
        <p:spPr>
          <a:xfrm>
            <a:off x="812901" y="1127455"/>
            <a:ext cx="10565893" cy="868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000"/>
              <a:buFont typeface="Arial"/>
              <a:buNone/>
            </a:pPr>
            <a:r>
              <a:rPr b="1" i="0" lang="en-US" sz="3000" u="none" cap="none" strike="noStrike">
                <a:solidFill>
                  <a:srgbClr val="14202F"/>
                </a:solidFill>
                <a:latin typeface="Georgia"/>
                <a:ea typeface="Georgia"/>
                <a:cs typeface="Georgia"/>
                <a:sym typeface="Georgia"/>
              </a:rPr>
              <a:t>What our data shows</a:t>
            </a:r>
            <a:endParaRPr b="0" i="0" sz="1400" u="none" cap="none" strike="noStrike">
              <a:solidFill>
                <a:srgbClr val="000000"/>
              </a:solidFill>
              <a:latin typeface="Arial"/>
              <a:ea typeface="Arial"/>
              <a:cs typeface="Arial"/>
              <a:sym typeface="Arial"/>
            </a:endParaRPr>
          </a:p>
        </p:txBody>
      </p:sp>
      <p:sp>
        <p:nvSpPr>
          <p:cNvPr id="301" name="Google Shape;301;p21"/>
          <p:cNvSpPr/>
          <p:nvPr/>
        </p:nvSpPr>
        <p:spPr>
          <a:xfrm>
            <a:off x="812901" y="2148840"/>
            <a:ext cx="5145786" cy="164592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2" name="Google Shape;302;p21"/>
          <p:cNvSpPr txBox="1"/>
          <p:nvPr/>
        </p:nvSpPr>
        <p:spPr>
          <a:xfrm>
            <a:off x="1132941" y="2423160"/>
            <a:ext cx="54864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B8392A"/>
                </a:solidFill>
                <a:latin typeface="Georgia"/>
                <a:ea typeface="Georgia"/>
                <a:cs typeface="Georgia"/>
                <a:sym typeface="Georgia"/>
              </a:rPr>
              <a:t>1</a:t>
            </a:r>
            <a:endParaRPr b="0" i="0" sz="1400" u="none" cap="none" strike="noStrike">
              <a:solidFill>
                <a:srgbClr val="000000"/>
              </a:solidFill>
              <a:latin typeface="Arial"/>
              <a:ea typeface="Arial"/>
              <a:cs typeface="Arial"/>
              <a:sym typeface="Arial"/>
            </a:endParaRPr>
          </a:p>
        </p:txBody>
      </p:sp>
      <p:sp>
        <p:nvSpPr>
          <p:cNvPr id="303" name="Google Shape;303;p21"/>
          <p:cNvSpPr txBox="1"/>
          <p:nvPr/>
        </p:nvSpPr>
        <p:spPr>
          <a:xfrm>
            <a:off x="1727301" y="2423160"/>
            <a:ext cx="3957066" cy="11887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14202F"/>
                </a:solidFill>
                <a:latin typeface="Arial"/>
                <a:ea typeface="Arial"/>
                <a:cs typeface="Arial"/>
                <a:sym typeface="Arial"/>
              </a:rPr>
              <a:t>Demand is rising</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0" lang="en-US" sz="1400" u="none" cap="none" strike="noStrike">
                <a:solidFill>
                  <a:srgbClr val="3F4B5E"/>
                </a:solidFill>
                <a:latin typeface="Arial"/>
                <a:ea typeface="Arial"/>
                <a:cs typeface="Arial"/>
                <a:sym typeface="Arial"/>
              </a:rPr>
              <a:t>Clean-energy demand for lithium grows about four times by 2040, and Latin America mines a third of the world's copper.</a:t>
            </a:r>
            <a:endParaRPr b="0" i="0" sz="1400" u="none" cap="none" strike="noStrike">
              <a:solidFill>
                <a:srgbClr val="000000"/>
              </a:solidFill>
              <a:latin typeface="Arial"/>
              <a:ea typeface="Arial"/>
              <a:cs typeface="Arial"/>
              <a:sym typeface="Arial"/>
            </a:endParaRPr>
          </a:p>
        </p:txBody>
      </p:sp>
      <p:sp>
        <p:nvSpPr>
          <p:cNvPr id="304" name="Google Shape;304;p21"/>
          <p:cNvSpPr/>
          <p:nvPr/>
        </p:nvSpPr>
        <p:spPr>
          <a:xfrm>
            <a:off x="6233007" y="2148840"/>
            <a:ext cx="5145786" cy="164592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5" name="Google Shape;305;p21"/>
          <p:cNvSpPr txBox="1"/>
          <p:nvPr/>
        </p:nvSpPr>
        <p:spPr>
          <a:xfrm>
            <a:off x="6553047" y="2423160"/>
            <a:ext cx="54864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B8392A"/>
                </a:solidFill>
                <a:latin typeface="Georgia"/>
                <a:ea typeface="Georgia"/>
                <a:cs typeface="Georgia"/>
                <a:sym typeface="Georgia"/>
              </a:rPr>
              <a:t>2</a:t>
            </a:r>
            <a:endParaRPr b="0" i="0" sz="1400" u="none" cap="none" strike="noStrike">
              <a:solidFill>
                <a:srgbClr val="000000"/>
              </a:solidFill>
              <a:latin typeface="Arial"/>
              <a:ea typeface="Arial"/>
              <a:cs typeface="Arial"/>
              <a:sym typeface="Arial"/>
            </a:endParaRPr>
          </a:p>
        </p:txBody>
      </p:sp>
      <p:sp>
        <p:nvSpPr>
          <p:cNvPr id="306" name="Google Shape;306;p21"/>
          <p:cNvSpPr txBox="1"/>
          <p:nvPr/>
        </p:nvSpPr>
        <p:spPr>
          <a:xfrm>
            <a:off x="7147407" y="2423160"/>
            <a:ext cx="3957000" cy="111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800"/>
              </a:spcBef>
              <a:spcAft>
                <a:spcPts val="0"/>
              </a:spcAft>
              <a:buClr>
                <a:srgbClr val="000000"/>
              </a:buClr>
              <a:buSzPts val="1400"/>
              <a:buFont typeface="Arial"/>
              <a:buNone/>
            </a:pPr>
            <a:r>
              <a:rPr b="1" lang="en-US" sz="1700">
                <a:solidFill>
                  <a:srgbClr val="14202F"/>
                </a:solidFill>
              </a:rPr>
              <a:t>Zoom in the Andes</a:t>
            </a:r>
            <a:endParaRPr b="1" sz="1700">
              <a:solidFill>
                <a:srgbClr val="14202F"/>
              </a:solidFill>
            </a:endParaRPr>
          </a:p>
          <a:p>
            <a:pPr indent="0" lvl="0" marL="0" marR="0" rtl="0" algn="l">
              <a:lnSpc>
                <a:spcPct val="115000"/>
              </a:lnSpc>
              <a:spcBef>
                <a:spcPts val="800"/>
              </a:spcBef>
              <a:spcAft>
                <a:spcPts val="0"/>
              </a:spcAft>
              <a:buClr>
                <a:srgbClr val="000000"/>
              </a:buClr>
              <a:buSzPts val="1400"/>
              <a:buFont typeface="Arial"/>
              <a:buNone/>
            </a:pPr>
            <a:r>
              <a:rPr b="0" i="0" lang="en-US" sz="1400" u="none" cap="none" strike="noStrike">
                <a:solidFill>
                  <a:srgbClr val="3F4B5E"/>
                </a:solidFill>
                <a:latin typeface="Arial"/>
                <a:ea typeface="Arial"/>
                <a:cs typeface="Arial"/>
                <a:sym typeface="Arial"/>
              </a:rPr>
              <a:t>Mining conflicts are recorded in the same countries and provinces as the mining sites: Chile, Peru, Argentina and Brazil lead.</a:t>
            </a:r>
            <a:endParaRPr b="0" i="0" sz="1400" u="none" cap="none" strike="noStrike">
              <a:solidFill>
                <a:srgbClr val="000000"/>
              </a:solidFill>
              <a:latin typeface="Arial"/>
              <a:ea typeface="Arial"/>
              <a:cs typeface="Arial"/>
              <a:sym typeface="Arial"/>
            </a:endParaRPr>
          </a:p>
        </p:txBody>
      </p:sp>
      <p:sp>
        <p:nvSpPr>
          <p:cNvPr id="307" name="Google Shape;307;p21"/>
          <p:cNvSpPr/>
          <p:nvPr/>
        </p:nvSpPr>
        <p:spPr>
          <a:xfrm>
            <a:off x="812901" y="4023359"/>
            <a:ext cx="5145786" cy="164592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8" name="Google Shape;308;p21"/>
          <p:cNvSpPr txBox="1"/>
          <p:nvPr/>
        </p:nvSpPr>
        <p:spPr>
          <a:xfrm>
            <a:off x="1132941" y="4297679"/>
            <a:ext cx="54864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B8392A"/>
                </a:solidFill>
                <a:latin typeface="Georgia"/>
                <a:ea typeface="Georgia"/>
                <a:cs typeface="Georgia"/>
                <a:sym typeface="Georgia"/>
              </a:rPr>
              <a:t>3</a:t>
            </a:r>
            <a:endParaRPr b="0" i="0" sz="1400" u="none" cap="none" strike="noStrike">
              <a:solidFill>
                <a:srgbClr val="000000"/>
              </a:solidFill>
              <a:latin typeface="Arial"/>
              <a:ea typeface="Arial"/>
              <a:cs typeface="Arial"/>
              <a:sym typeface="Arial"/>
            </a:endParaRPr>
          </a:p>
        </p:txBody>
      </p:sp>
      <p:sp>
        <p:nvSpPr>
          <p:cNvPr id="309" name="Google Shape;309;p21"/>
          <p:cNvSpPr txBox="1"/>
          <p:nvPr/>
        </p:nvSpPr>
        <p:spPr>
          <a:xfrm>
            <a:off x="1727301" y="4297679"/>
            <a:ext cx="3957066" cy="11887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14202F"/>
                </a:solidFill>
                <a:latin typeface="Arial"/>
                <a:ea typeface="Arial"/>
                <a:cs typeface="Arial"/>
                <a:sym typeface="Arial"/>
              </a:rPr>
              <a:t>What our data can't show</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0" lang="en-US" sz="1400" u="none" cap="none" strike="noStrike">
                <a:solidFill>
                  <a:srgbClr val="3F4B5E"/>
                </a:solidFill>
                <a:latin typeface="Arial"/>
                <a:ea typeface="Arial"/>
                <a:cs typeface="Arial"/>
                <a:sym typeface="Arial"/>
              </a:rPr>
              <a:t>Whether rising demand for critical minerals will spark more conflicts in Latin America over time: our conflict data stop in 2019.</a:t>
            </a:r>
            <a:endParaRPr b="0" i="0" sz="1400" u="none" cap="none" strike="noStrike">
              <a:solidFill>
                <a:srgbClr val="000000"/>
              </a:solidFill>
              <a:latin typeface="Arial"/>
              <a:ea typeface="Arial"/>
              <a:cs typeface="Arial"/>
              <a:sym typeface="Arial"/>
            </a:endParaRPr>
          </a:p>
        </p:txBody>
      </p:sp>
      <p:sp>
        <p:nvSpPr>
          <p:cNvPr id="310" name="Google Shape;310;p21"/>
          <p:cNvSpPr/>
          <p:nvPr/>
        </p:nvSpPr>
        <p:spPr>
          <a:xfrm>
            <a:off x="6233007" y="4023359"/>
            <a:ext cx="5145786" cy="164592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1" name="Google Shape;311;p21"/>
          <p:cNvSpPr txBox="1"/>
          <p:nvPr/>
        </p:nvSpPr>
        <p:spPr>
          <a:xfrm>
            <a:off x="6553047" y="4297679"/>
            <a:ext cx="54864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B8392A"/>
                </a:solidFill>
                <a:latin typeface="Georgia"/>
                <a:ea typeface="Georgia"/>
                <a:cs typeface="Georgia"/>
                <a:sym typeface="Georgia"/>
              </a:rPr>
              <a:t>4</a:t>
            </a:r>
            <a:endParaRPr b="0" i="0" sz="1400" u="none" cap="none" strike="noStrike">
              <a:solidFill>
                <a:srgbClr val="000000"/>
              </a:solidFill>
              <a:latin typeface="Arial"/>
              <a:ea typeface="Arial"/>
              <a:cs typeface="Arial"/>
              <a:sym typeface="Arial"/>
            </a:endParaRPr>
          </a:p>
        </p:txBody>
      </p:sp>
      <p:sp>
        <p:nvSpPr>
          <p:cNvPr id="312" name="Google Shape;312;p21"/>
          <p:cNvSpPr txBox="1"/>
          <p:nvPr/>
        </p:nvSpPr>
        <p:spPr>
          <a:xfrm>
            <a:off x="7147407" y="4297679"/>
            <a:ext cx="3957000" cy="111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14202F"/>
                </a:solidFill>
                <a:latin typeface="Arial"/>
                <a:ea typeface="Arial"/>
                <a:cs typeface="Arial"/>
                <a:sym typeface="Arial"/>
              </a:rPr>
              <a:t>Our answer: only partly</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0" lang="en-US" sz="1400" u="none" cap="none" strike="noStrike">
                <a:solidFill>
                  <a:srgbClr val="3F4B5E"/>
                </a:solidFill>
                <a:latin typeface="Arial"/>
                <a:ea typeface="Arial"/>
                <a:cs typeface="Arial"/>
                <a:sym typeface="Arial"/>
              </a:rPr>
              <a:t>Resource-rich countries see more conflicts, but not always more killings of defenders. Land disputes drive most killings.</a:t>
            </a:r>
            <a:endParaRPr b="0" i="0" sz="1400" u="none" cap="none" strike="noStrike">
              <a:solidFill>
                <a:srgbClr val="000000"/>
              </a:solidFill>
              <a:latin typeface="Arial"/>
              <a:ea typeface="Arial"/>
              <a:cs typeface="Arial"/>
              <a:sym typeface="Arial"/>
            </a:endParaRPr>
          </a:p>
        </p:txBody>
      </p:sp>
      <p:sp>
        <p:nvSpPr>
          <p:cNvPr id="313" name="Google Shape;313;p21"/>
          <p:cNvSpPr txBox="1"/>
          <p:nvPr/>
        </p:nvSpPr>
        <p:spPr>
          <a:xfrm>
            <a:off x="812901" y="6053328"/>
            <a:ext cx="10565893"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5F6B7C"/>
                </a:solidFill>
                <a:latin typeface="Arial"/>
                <a:ea typeface="Arial"/>
                <a:cs typeface="Arial"/>
                <a:sym typeface="Arial"/>
              </a:rPr>
              <a:t>Association, not cause: all sources under-record, and counts do not measure size or severity.</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D5E2"/>
        </a:solidFill>
      </p:bgPr>
    </p:bg>
    <p:spTree>
      <p:nvGrpSpPr>
        <p:cNvPr id="318" name="Shape 318"/>
        <p:cNvGrpSpPr/>
        <p:nvPr/>
      </p:nvGrpSpPr>
      <p:grpSpPr>
        <a:xfrm>
          <a:off x="0" y="0"/>
          <a:ext cx="0" cy="0"/>
          <a:chOff x="0" y="0"/>
          <a:chExt cx="0" cy="0"/>
        </a:xfrm>
      </p:grpSpPr>
      <p:sp>
        <p:nvSpPr>
          <p:cNvPr id="319" name="Google Shape;319;p22"/>
          <p:cNvSpPr txBox="1"/>
          <p:nvPr/>
        </p:nvSpPr>
        <p:spPr>
          <a:xfrm>
            <a:off x="812901" y="812901"/>
            <a:ext cx="640080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200"/>
              <a:buFont typeface="Arial"/>
              <a:buNone/>
            </a:pPr>
            <a:r>
              <a:rPr b="1" i="0" lang="en-US" sz="1200" u="none" cap="none" strike="noStrike">
                <a:solidFill>
                  <a:srgbClr val="B8392A"/>
                </a:solidFill>
                <a:latin typeface="Arial"/>
                <a:ea typeface="Arial"/>
                <a:cs typeface="Arial"/>
                <a:sym typeface="Arial"/>
              </a:rPr>
              <a:t>CRITICAL MINERALS IN LATIN AMERICA</a:t>
            </a:r>
            <a:endParaRPr b="0" i="0" sz="1400" u="none" cap="none" strike="noStrike">
              <a:solidFill>
                <a:srgbClr val="000000"/>
              </a:solidFill>
              <a:latin typeface="Arial"/>
              <a:ea typeface="Arial"/>
              <a:cs typeface="Arial"/>
              <a:sym typeface="Arial"/>
            </a:endParaRPr>
          </a:p>
        </p:txBody>
      </p:sp>
      <p:sp>
        <p:nvSpPr>
          <p:cNvPr id="320" name="Google Shape;320;p22"/>
          <p:cNvSpPr txBox="1"/>
          <p:nvPr/>
        </p:nvSpPr>
        <p:spPr>
          <a:xfrm>
            <a:off x="812901" y="2011680"/>
            <a:ext cx="6675120" cy="14630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8000"/>
              <a:buFont typeface="Arial"/>
              <a:buNone/>
            </a:pPr>
            <a:r>
              <a:rPr b="1" i="0" lang="en-US" sz="8000" u="none" cap="none" strike="noStrike">
                <a:solidFill>
                  <a:srgbClr val="14202F"/>
                </a:solidFill>
                <a:latin typeface="Georgia"/>
                <a:ea typeface="Georgia"/>
                <a:cs typeface="Georgia"/>
                <a:sym typeface="Georgia"/>
              </a:rPr>
              <a:t>Thank you</a:t>
            </a:r>
            <a:endParaRPr b="0" i="0" sz="1400" u="none" cap="none" strike="noStrike">
              <a:solidFill>
                <a:srgbClr val="000000"/>
              </a:solidFill>
              <a:latin typeface="Arial"/>
              <a:ea typeface="Arial"/>
              <a:cs typeface="Arial"/>
              <a:sym typeface="Arial"/>
            </a:endParaRPr>
          </a:p>
        </p:txBody>
      </p:sp>
      <p:sp>
        <p:nvSpPr>
          <p:cNvPr id="321" name="Google Shape;321;p22"/>
          <p:cNvSpPr txBox="1"/>
          <p:nvPr/>
        </p:nvSpPr>
        <p:spPr>
          <a:xfrm>
            <a:off x="812901" y="3429000"/>
            <a:ext cx="66751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B8392A"/>
                </a:solidFill>
                <a:latin typeface="Georgia"/>
                <a:ea typeface="Georgia"/>
                <a:cs typeface="Georgia"/>
                <a:sym typeface="Georgia"/>
              </a:rPr>
              <a:t>Questions?</a:t>
            </a:r>
            <a:endParaRPr b="0" i="0" sz="1400" u="none" cap="none" strike="noStrike">
              <a:solidFill>
                <a:srgbClr val="000000"/>
              </a:solidFill>
              <a:latin typeface="Arial"/>
              <a:ea typeface="Arial"/>
              <a:cs typeface="Arial"/>
              <a:sym typeface="Arial"/>
            </a:endParaRPr>
          </a:p>
        </p:txBody>
      </p:sp>
      <p:sp>
        <p:nvSpPr>
          <p:cNvPr id="322" name="Google Shape;322;p22"/>
          <p:cNvSpPr txBox="1"/>
          <p:nvPr/>
        </p:nvSpPr>
        <p:spPr>
          <a:xfrm>
            <a:off x="812901" y="4846320"/>
            <a:ext cx="667512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200"/>
              <a:buFont typeface="Arial"/>
              <a:buNone/>
            </a:pPr>
            <a:r>
              <a:rPr b="1" i="0" lang="en-US" sz="2200" u="none" cap="none" strike="noStrike">
                <a:solidFill>
                  <a:srgbClr val="14202F"/>
                </a:solidFill>
                <a:latin typeface="Arial"/>
                <a:ea typeface="Arial"/>
                <a:cs typeface="Arial"/>
                <a:sym typeface="Arial"/>
              </a:rPr>
              <a:t>Diego &amp; Lena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400"/>
              <a:buFont typeface="Arial"/>
              <a:buNone/>
            </a:pPr>
            <a:r>
              <a:rPr b="0" i="0" lang="en-US" sz="1400" u="none" cap="none" strike="noStrike">
                <a:solidFill>
                  <a:srgbClr val="5A6576"/>
                </a:solidFill>
                <a:latin typeface="Arial"/>
                <a:ea typeface="Arial"/>
                <a:cs typeface="Arial"/>
                <a:sym typeface="Arial"/>
              </a:rPr>
              <a:t>Team Tokio · Ironhack</a:t>
            </a:r>
            <a:endParaRPr b="0" i="0" sz="1400" u="none" cap="none" strike="noStrike">
              <a:solidFill>
                <a:srgbClr val="000000"/>
              </a:solidFill>
              <a:latin typeface="Arial"/>
              <a:ea typeface="Arial"/>
              <a:cs typeface="Arial"/>
              <a:sym typeface="Arial"/>
            </a:endParaRPr>
          </a:p>
        </p:txBody>
      </p:sp>
      <p:cxnSp>
        <p:nvCxnSpPr>
          <p:cNvPr id="323" name="Google Shape;323;p22"/>
          <p:cNvCxnSpPr/>
          <p:nvPr/>
        </p:nvCxnSpPr>
        <p:spPr>
          <a:xfrm>
            <a:off x="8298180" y="1440180"/>
            <a:ext cx="0" cy="3977640"/>
          </a:xfrm>
          <a:prstGeom prst="straightConnector1">
            <a:avLst/>
          </a:prstGeom>
          <a:noFill/>
          <a:ln cap="flat" cmpd="sng" w="25400">
            <a:solidFill>
              <a:srgbClr val="7D8899"/>
            </a:solidFill>
            <a:prstDash val="solid"/>
            <a:round/>
            <a:headEnd len="sm" w="sm" type="none"/>
            <a:tailEnd len="sm" w="sm" type="none"/>
          </a:ln>
          <a:effectLst>
            <a:outerShdw blurRad="40000" rotWithShape="0" dir="5400000" dist="20000">
              <a:srgbClr val="000000">
                <a:alpha val="38039"/>
              </a:srgbClr>
            </a:outerShdw>
          </a:effectLst>
        </p:spPr>
      </p:cxnSp>
      <p:sp>
        <p:nvSpPr>
          <p:cNvPr id="324" name="Google Shape;324;p22"/>
          <p:cNvSpPr/>
          <p:nvPr/>
        </p:nvSpPr>
        <p:spPr>
          <a:xfrm>
            <a:off x="7863840" y="1005840"/>
            <a:ext cx="868680" cy="868680"/>
          </a:xfrm>
          <a:prstGeom prst="ellipse">
            <a:avLst/>
          </a:prstGeom>
          <a:solidFill>
            <a:srgbClr val="F6F3EC"/>
          </a:solidFill>
          <a:ln cap="flat" cmpd="sng" w="50800">
            <a:solidFill>
              <a:srgbClr val="C8D5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fi_demand.png" id="325" name="Google Shape;325;p22"/>
          <p:cNvPicPr preferRelativeResize="0"/>
          <p:nvPr/>
        </p:nvPicPr>
        <p:blipFill rotWithShape="1">
          <a:blip r:embed="rId3">
            <a:alphaModFix/>
          </a:blip>
          <a:srcRect b="0" l="0" r="0" t="0"/>
          <a:stretch/>
        </p:blipFill>
        <p:spPr>
          <a:xfrm>
            <a:off x="7933563" y="1075563"/>
            <a:ext cx="729234" cy="729234"/>
          </a:xfrm>
          <a:prstGeom prst="rect">
            <a:avLst/>
          </a:prstGeom>
          <a:noFill/>
          <a:ln>
            <a:noFill/>
          </a:ln>
        </p:spPr>
      </p:pic>
      <p:sp>
        <p:nvSpPr>
          <p:cNvPr id="326" name="Google Shape;326;p22"/>
          <p:cNvSpPr txBox="1"/>
          <p:nvPr/>
        </p:nvSpPr>
        <p:spPr>
          <a:xfrm>
            <a:off x="9006840" y="1115568"/>
            <a:ext cx="2743200" cy="68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Demand</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300"/>
              <a:buFont typeface="Arial"/>
              <a:buNone/>
            </a:pPr>
            <a:r>
              <a:rPr b="0" i="0" lang="en-US" sz="1300" u="none" cap="none" strike="noStrike">
                <a:solidFill>
                  <a:srgbClr val="5A6576"/>
                </a:solidFill>
                <a:latin typeface="Arial"/>
                <a:ea typeface="Arial"/>
                <a:cs typeface="Arial"/>
                <a:sym typeface="Arial"/>
              </a:rPr>
              <a:t>rises for minerals and gold</a:t>
            </a:r>
            <a:endParaRPr b="0" i="0" sz="1400" u="none" cap="none" strike="noStrike">
              <a:solidFill>
                <a:srgbClr val="000000"/>
              </a:solidFill>
              <a:latin typeface="Arial"/>
              <a:ea typeface="Arial"/>
              <a:cs typeface="Arial"/>
              <a:sym typeface="Arial"/>
            </a:endParaRPr>
          </a:p>
        </p:txBody>
      </p:sp>
      <p:sp>
        <p:nvSpPr>
          <p:cNvPr id="327" name="Google Shape;327;p22"/>
          <p:cNvSpPr/>
          <p:nvPr/>
        </p:nvSpPr>
        <p:spPr>
          <a:xfrm>
            <a:off x="7863840" y="2331720"/>
            <a:ext cx="868680" cy="868680"/>
          </a:xfrm>
          <a:prstGeom prst="ellipse">
            <a:avLst/>
          </a:prstGeom>
          <a:solidFill>
            <a:srgbClr val="F6F3EC"/>
          </a:solidFill>
          <a:ln cap="flat" cmpd="sng" w="50800">
            <a:solidFill>
              <a:srgbClr val="C8D5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fi_minecart.png" id="328" name="Google Shape;328;p22"/>
          <p:cNvPicPr preferRelativeResize="0"/>
          <p:nvPr/>
        </p:nvPicPr>
        <p:blipFill rotWithShape="1">
          <a:blip r:embed="rId4">
            <a:alphaModFix/>
          </a:blip>
          <a:srcRect b="0" l="0" r="0" t="0"/>
          <a:stretch/>
        </p:blipFill>
        <p:spPr>
          <a:xfrm>
            <a:off x="7933563" y="2401443"/>
            <a:ext cx="729234" cy="729234"/>
          </a:xfrm>
          <a:prstGeom prst="rect">
            <a:avLst/>
          </a:prstGeom>
          <a:noFill/>
          <a:ln>
            <a:noFill/>
          </a:ln>
        </p:spPr>
      </p:pic>
      <p:sp>
        <p:nvSpPr>
          <p:cNvPr id="329" name="Google Shape;329;p22"/>
          <p:cNvSpPr txBox="1"/>
          <p:nvPr/>
        </p:nvSpPr>
        <p:spPr>
          <a:xfrm>
            <a:off x="9006840" y="2441448"/>
            <a:ext cx="2743200" cy="68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Mining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300"/>
              <a:buFont typeface="Arial"/>
              <a:buNone/>
            </a:pPr>
            <a:r>
              <a:rPr b="0" i="0" lang="en-US" sz="1300" u="none" cap="none" strike="noStrike">
                <a:solidFill>
                  <a:srgbClr val="5A6576"/>
                </a:solidFill>
                <a:latin typeface="Arial"/>
                <a:ea typeface="Arial"/>
                <a:cs typeface="Arial"/>
                <a:sym typeface="Arial"/>
              </a:rPr>
              <a:t>expands in Latin America</a:t>
            </a:r>
            <a:endParaRPr b="0" i="0" sz="1400" u="none" cap="none" strike="noStrike">
              <a:solidFill>
                <a:srgbClr val="000000"/>
              </a:solidFill>
              <a:latin typeface="Arial"/>
              <a:ea typeface="Arial"/>
              <a:cs typeface="Arial"/>
              <a:sym typeface="Arial"/>
            </a:endParaRPr>
          </a:p>
        </p:txBody>
      </p:sp>
      <p:sp>
        <p:nvSpPr>
          <p:cNvPr id="330" name="Google Shape;330;p22"/>
          <p:cNvSpPr/>
          <p:nvPr/>
        </p:nvSpPr>
        <p:spPr>
          <a:xfrm>
            <a:off x="7863840" y="3657600"/>
            <a:ext cx="868680" cy="868680"/>
          </a:xfrm>
          <a:prstGeom prst="ellipse">
            <a:avLst/>
          </a:prstGeom>
          <a:solidFill>
            <a:srgbClr val="F6F3EC"/>
          </a:solidFill>
          <a:ln cap="flat" cmpd="sng" w="50800">
            <a:solidFill>
              <a:srgbClr val="C8D5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fi_protest.png" id="331" name="Google Shape;331;p22"/>
          <p:cNvPicPr preferRelativeResize="0"/>
          <p:nvPr/>
        </p:nvPicPr>
        <p:blipFill rotWithShape="1">
          <a:blip r:embed="rId5">
            <a:alphaModFix/>
          </a:blip>
          <a:srcRect b="0" l="0" r="0" t="0"/>
          <a:stretch/>
        </p:blipFill>
        <p:spPr>
          <a:xfrm>
            <a:off x="7933563" y="3727323"/>
            <a:ext cx="729234" cy="729234"/>
          </a:xfrm>
          <a:prstGeom prst="rect">
            <a:avLst/>
          </a:prstGeom>
          <a:noFill/>
          <a:ln>
            <a:noFill/>
          </a:ln>
        </p:spPr>
      </p:pic>
      <p:sp>
        <p:nvSpPr>
          <p:cNvPr id="332" name="Google Shape;332;p22"/>
          <p:cNvSpPr txBox="1"/>
          <p:nvPr/>
        </p:nvSpPr>
        <p:spPr>
          <a:xfrm>
            <a:off x="9006840" y="3767328"/>
            <a:ext cx="2743200" cy="68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Conflict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300"/>
              <a:buFont typeface="Arial"/>
              <a:buNone/>
            </a:pPr>
            <a:r>
              <a:rPr b="0" i="0" lang="en-US" sz="1300" u="none" cap="none" strike="noStrike">
                <a:solidFill>
                  <a:srgbClr val="5A6576"/>
                </a:solidFill>
                <a:latin typeface="Arial"/>
                <a:ea typeface="Arial"/>
                <a:cs typeface="Arial"/>
                <a:sym typeface="Arial"/>
              </a:rPr>
              <a:t>follows the mines</a:t>
            </a:r>
            <a:endParaRPr b="0" i="0" sz="1400" u="none" cap="none" strike="noStrike">
              <a:solidFill>
                <a:srgbClr val="000000"/>
              </a:solidFill>
              <a:latin typeface="Arial"/>
              <a:ea typeface="Arial"/>
              <a:cs typeface="Arial"/>
              <a:sym typeface="Arial"/>
            </a:endParaRPr>
          </a:p>
        </p:txBody>
      </p:sp>
      <p:sp>
        <p:nvSpPr>
          <p:cNvPr id="333" name="Google Shape;333;p22"/>
          <p:cNvSpPr/>
          <p:nvPr/>
        </p:nvSpPr>
        <p:spPr>
          <a:xfrm>
            <a:off x="7863840" y="4983480"/>
            <a:ext cx="868680" cy="868680"/>
          </a:xfrm>
          <a:prstGeom prst="ellipse">
            <a:avLst/>
          </a:prstGeom>
          <a:solidFill>
            <a:srgbClr val="F6F3EC"/>
          </a:solidFill>
          <a:ln cap="flat" cmpd="sng" w="50800">
            <a:solidFill>
              <a:srgbClr val="C8D5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fi_defender.png" id="334" name="Google Shape;334;p22"/>
          <p:cNvPicPr preferRelativeResize="0"/>
          <p:nvPr/>
        </p:nvPicPr>
        <p:blipFill rotWithShape="1">
          <a:blip r:embed="rId6">
            <a:alphaModFix/>
          </a:blip>
          <a:srcRect b="0" l="0" r="0" t="0"/>
          <a:stretch/>
        </p:blipFill>
        <p:spPr>
          <a:xfrm>
            <a:off x="7933563" y="5053203"/>
            <a:ext cx="729234" cy="729234"/>
          </a:xfrm>
          <a:prstGeom prst="rect">
            <a:avLst/>
          </a:prstGeom>
          <a:noFill/>
          <a:ln>
            <a:noFill/>
          </a:ln>
        </p:spPr>
      </p:pic>
      <p:sp>
        <p:nvSpPr>
          <p:cNvPr id="335" name="Google Shape;335;p22"/>
          <p:cNvSpPr txBox="1"/>
          <p:nvPr/>
        </p:nvSpPr>
        <p:spPr>
          <a:xfrm>
            <a:off x="9006840" y="5093208"/>
            <a:ext cx="2743200" cy="68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800"/>
              <a:buFont typeface="Arial"/>
              <a:buNone/>
            </a:pPr>
            <a:r>
              <a:rPr b="1" i="0" lang="en-US" sz="1800" u="none" cap="none" strike="noStrike">
                <a:solidFill>
                  <a:srgbClr val="14202F"/>
                </a:solidFill>
                <a:latin typeface="Arial"/>
                <a:ea typeface="Arial"/>
                <a:cs typeface="Arial"/>
                <a:sym typeface="Arial"/>
              </a:rPr>
              <a:t>Defenders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300"/>
              <a:buFont typeface="Arial"/>
              <a:buNone/>
            </a:pPr>
            <a:r>
              <a:rPr b="0" i="0" lang="en-US" sz="1300" u="none" cap="none" strike="noStrike">
                <a:solidFill>
                  <a:srgbClr val="5A6576"/>
                </a:solidFill>
                <a:latin typeface="Arial"/>
                <a:ea typeface="Arial"/>
                <a:cs typeface="Arial"/>
                <a:sym typeface="Arial"/>
              </a:rPr>
              <a:t>killed: the most extreme form</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Where mining meets conflict">
  <a:themeElements>
    <a:clrScheme name="Where mining meets conflict">
      <a:dk1>
        <a:srgbClr val="14202F"/>
      </a:dk1>
      <a:lt1>
        <a:srgbClr val="E6EDF3"/>
      </a:lt1>
      <a:dk2>
        <a:srgbClr val="495360"/>
      </a:dk2>
      <a:lt2>
        <a:srgbClr val="D1D9DF"/>
      </a:lt2>
      <a:accent1>
        <a:srgbClr val="B8392A"/>
      </a:accent1>
      <a:accent2>
        <a:srgbClr val="3F4B5E"/>
      </a:accent2>
      <a:accent3>
        <a:srgbClr val="4A5568"/>
      </a:accent3>
      <a:accent4>
        <a:srgbClr val="5A6576"/>
      </a:accent4>
      <a:accent5>
        <a:srgbClr val="5F6B7C"/>
      </a:accent5>
      <a:accent6>
        <a:srgbClr val="F3EA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ere mining meets conflict">
  <a:themeElements>
    <a:clrScheme name="Where mining meets conflict">
      <a:dk1>
        <a:srgbClr val="14202F"/>
      </a:dk1>
      <a:lt1>
        <a:srgbClr val="E6EDF3"/>
      </a:lt1>
      <a:dk2>
        <a:srgbClr val="495360"/>
      </a:dk2>
      <a:lt2>
        <a:srgbClr val="D1D9DF"/>
      </a:lt2>
      <a:accent1>
        <a:srgbClr val="B8392A"/>
      </a:accent1>
      <a:accent2>
        <a:srgbClr val="3F4B5E"/>
      </a:accent2>
      <a:accent3>
        <a:srgbClr val="4A5568"/>
      </a:accent3>
      <a:accent4>
        <a:srgbClr val="5A6576"/>
      </a:accent4>
      <a:accent5>
        <a:srgbClr val="5F6B7C"/>
      </a:accent5>
      <a:accent6>
        <a:srgbClr val="F3EA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